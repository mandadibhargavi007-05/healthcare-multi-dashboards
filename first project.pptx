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1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0" r:id="rId14"/>
    <p:sldId id="268" r:id="rId15"/>
    <p:sldId id="269" r:id="rId16"/>
    <p:sldId id="271" r:id="rId17"/>
    <p:sldId id="275" r:id="rId18"/>
    <p:sldId id="276" r:id="rId19"/>
    <p:sldId id="277" r:id="rId20"/>
  </p:sldIdLst>
  <p:sldSz cx="18288000" cy="10287000"/>
  <p:notesSz cx="6858000" cy="9144000"/>
  <p:embeddedFontLst>
    <p:embeddedFont>
      <p:font typeface="Arial Rounded MT Bold" panose="020F0704030504030204" pitchFamily="34" charset="0"/>
      <p:regular r:id="rId22"/>
    </p:embeddedFont>
    <p:embeddedFont>
      <p:font typeface="Berlin Sans FB Demi" panose="020E0802020502020306" pitchFamily="34" charset="0"/>
      <p:bold r:id="rId23"/>
    </p:embeddedFont>
    <p:embeddedFont>
      <p:font typeface="Quicksand Bold" panose="020B0604020202020204" charset="0"/>
      <p:regular r:id="rId24"/>
    </p:embeddedFont>
    <p:embeddedFont>
      <p:font typeface="Raleway" pitchFamily="2" charset="0"/>
      <p:regular r:id="rId25"/>
      <p:bold r:id="rId26"/>
      <p:italic r:id="rId27"/>
      <p:boldItalic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3CC8A1-546A-4C47-821F-F649975BC2BF}" v="172" dt="2026-02-19T13:54:33.9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13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15797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dadi bhargavi" userId="05f2b9e77d8198f5" providerId="LiveId" clId="{03255B3B-D5FC-4ACA-BECD-3DCCEBD047BA}"/>
    <pc:docChg chg="undo custSel modSld">
      <pc:chgData name="mandadi bhargavi" userId="05f2b9e77d8198f5" providerId="LiveId" clId="{03255B3B-D5FC-4ACA-BECD-3DCCEBD047BA}" dt="2026-02-19T13:55:12.885" v="190" actId="478"/>
      <pc:docMkLst>
        <pc:docMk/>
      </pc:docMkLst>
      <pc:sldChg chg="addSp delSp modSp mod">
        <pc:chgData name="mandadi bhargavi" userId="05f2b9e77d8198f5" providerId="LiveId" clId="{03255B3B-D5FC-4ACA-BECD-3DCCEBD047BA}" dt="2026-02-19T13:52:46.523" v="172" actId="1076"/>
        <pc:sldMkLst>
          <pc:docMk/>
          <pc:sldMk cId="0" sldId="256"/>
        </pc:sldMkLst>
        <pc:spChg chg="add del">
          <ac:chgData name="mandadi bhargavi" userId="05f2b9e77d8198f5" providerId="LiveId" clId="{03255B3B-D5FC-4ACA-BECD-3DCCEBD047BA}" dt="2026-02-19T13:51:55.550" v="169" actId="478"/>
          <ac:spMkLst>
            <pc:docMk/>
            <pc:sldMk cId="0" sldId="256"/>
            <ac:spMk id="2" creationId="{C4C69BFD-008E-C63B-7491-041068899ECE}"/>
          </ac:spMkLst>
        </pc:spChg>
        <pc:spChg chg="mod">
          <ac:chgData name="mandadi bhargavi" userId="05f2b9e77d8198f5" providerId="LiveId" clId="{03255B3B-D5FC-4ACA-BECD-3DCCEBD047BA}" dt="2026-02-19T13:52:46.523" v="172" actId="1076"/>
          <ac:spMkLst>
            <pc:docMk/>
            <pc:sldMk cId="0" sldId="256"/>
            <ac:spMk id="4" creationId="{21C4F4C9-128D-3037-484A-B7CC25C5F3F1}"/>
          </ac:spMkLst>
        </pc:spChg>
        <pc:spChg chg="del">
          <ac:chgData name="mandadi bhargavi" userId="05f2b9e77d8198f5" providerId="LiveId" clId="{03255B3B-D5FC-4ACA-BECD-3DCCEBD047BA}" dt="2026-02-19T13:48:37.022" v="163" actId="478"/>
          <ac:spMkLst>
            <pc:docMk/>
            <pc:sldMk cId="0" sldId="256"/>
            <ac:spMk id="34" creationId="{00000000-0000-0000-0000-000000000000}"/>
          </ac:spMkLst>
        </pc:spChg>
        <pc:spChg chg="mod">
          <ac:chgData name="mandadi bhargavi" userId="05f2b9e77d8198f5" providerId="LiveId" clId="{03255B3B-D5FC-4ACA-BECD-3DCCEBD047BA}" dt="2026-02-19T13:38:52.761" v="153" actId="1076"/>
          <ac:spMkLst>
            <pc:docMk/>
            <pc:sldMk cId="0" sldId="256"/>
            <ac:spMk id="42" creationId="{C2A882D7-6FB3-4D74-E392-41281560525C}"/>
          </ac:spMkLst>
        </pc:spChg>
        <pc:spChg chg="del">
          <ac:chgData name="mandadi bhargavi" userId="05f2b9e77d8198f5" providerId="LiveId" clId="{03255B3B-D5FC-4ACA-BECD-3DCCEBD047BA}" dt="2026-02-19T13:25:43.648" v="102" actId="21"/>
          <ac:spMkLst>
            <pc:docMk/>
            <pc:sldMk cId="0" sldId="256"/>
            <ac:spMk id="43" creationId="{00000000-0000-0000-0000-000000000000}"/>
          </ac:spMkLst>
        </pc:spChg>
        <pc:picChg chg="add del mod">
          <ac:chgData name="mandadi bhargavi" userId="05f2b9e77d8198f5" providerId="LiveId" clId="{03255B3B-D5FC-4ACA-BECD-3DCCEBD047BA}" dt="2026-02-19T13:37:59.993" v="148" actId="478"/>
          <ac:picMkLst>
            <pc:docMk/>
            <pc:sldMk cId="0" sldId="256"/>
            <ac:picMk id="1026" creationId="{4BFCAE14-90ED-1C7C-413F-A8AB13DACB14}"/>
          </ac:picMkLst>
        </pc:picChg>
        <pc:picChg chg="add mod">
          <ac:chgData name="mandadi bhargavi" userId="05f2b9e77d8198f5" providerId="LiveId" clId="{03255B3B-D5FC-4ACA-BECD-3DCCEBD047BA}" dt="2026-02-19T13:52:11.008" v="170" actId="1076"/>
          <ac:picMkLst>
            <pc:docMk/>
            <pc:sldMk cId="0" sldId="256"/>
            <ac:picMk id="1028" creationId="{14438A9C-9821-C159-D0AB-5B7354BADC1F}"/>
          </ac:picMkLst>
        </pc:picChg>
      </pc:sldChg>
      <pc:sldChg chg="addSp">
        <pc:chgData name="mandadi bhargavi" userId="05f2b9e77d8198f5" providerId="LiveId" clId="{03255B3B-D5FC-4ACA-BECD-3DCCEBD047BA}" dt="2026-02-19T13:47:34.363" v="160"/>
        <pc:sldMkLst>
          <pc:docMk/>
          <pc:sldMk cId="0" sldId="257"/>
        </pc:sldMkLst>
        <pc:spChg chg="add">
          <ac:chgData name="mandadi bhargavi" userId="05f2b9e77d8198f5" providerId="LiveId" clId="{03255B3B-D5FC-4ACA-BECD-3DCCEBD047BA}" dt="2026-02-19T13:47:34.363" v="160"/>
          <ac:spMkLst>
            <pc:docMk/>
            <pc:sldMk cId="0" sldId="257"/>
            <ac:spMk id="2" creationId="{55AEA470-182D-5AAA-410C-D4EBEA54FC00}"/>
          </ac:spMkLst>
        </pc:spChg>
      </pc:sldChg>
      <pc:sldChg chg="addSp">
        <pc:chgData name="mandadi bhargavi" userId="05f2b9e77d8198f5" providerId="LiveId" clId="{03255B3B-D5FC-4ACA-BECD-3DCCEBD047BA}" dt="2026-02-19T13:48:20.910" v="162"/>
        <pc:sldMkLst>
          <pc:docMk/>
          <pc:sldMk cId="0" sldId="258"/>
        </pc:sldMkLst>
        <pc:spChg chg="add">
          <ac:chgData name="mandadi bhargavi" userId="05f2b9e77d8198f5" providerId="LiveId" clId="{03255B3B-D5FC-4ACA-BECD-3DCCEBD047BA}" dt="2026-02-19T13:48:20.910" v="162"/>
          <ac:spMkLst>
            <pc:docMk/>
            <pc:sldMk cId="0" sldId="258"/>
            <ac:spMk id="2" creationId="{BE4401F7-4AB3-DA5A-6056-C6ED258671E4}"/>
          </ac:spMkLst>
        </pc:spChg>
      </pc:sldChg>
      <pc:sldChg chg="modSp mod">
        <pc:chgData name="mandadi bhargavi" userId="05f2b9e77d8198f5" providerId="LiveId" clId="{03255B3B-D5FC-4ACA-BECD-3DCCEBD047BA}" dt="2026-02-19T13:09:47.524" v="49" actId="403"/>
        <pc:sldMkLst>
          <pc:docMk/>
          <pc:sldMk cId="0" sldId="260"/>
        </pc:sldMkLst>
        <pc:spChg chg="mod">
          <ac:chgData name="mandadi bhargavi" userId="05f2b9e77d8198f5" providerId="LiveId" clId="{03255B3B-D5FC-4ACA-BECD-3DCCEBD047BA}" dt="2026-02-19T13:09:09.399" v="48" actId="20577"/>
          <ac:spMkLst>
            <pc:docMk/>
            <pc:sldMk cId="0" sldId="260"/>
            <ac:spMk id="32" creationId="{E4856B06-2E81-4EA2-0389-74E653A78AA6}"/>
          </ac:spMkLst>
        </pc:spChg>
        <pc:graphicFrameChg chg="mod">
          <ac:chgData name="mandadi bhargavi" userId="05f2b9e77d8198f5" providerId="LiveId" clId="{03255B3B-D5FC-4ACA-BECD-3DCCEBD047BA}" dt="2026-02-19T13:09:47.524" v="49" actId="403"/>
          <ac:graphicFrameMkLst>
            <pc:docMk/>
            <pc:sldMk cId="0" sldId="260"/>
            <ac:graphicFrameMk id="38" creationId="{A1422B2C-D5BE-EBDB-FE37-8CD1E4BBB573}"/>
          </ac:graphicFrameMkLst>
        </pc:graphicFrameChg>
      </pc:sldChg>
      <pc:sldChg chg="addSp modSp mod">
        <pc:chgData name="mandadi bhargavi" userId="05f2b9e77d8198f5" providerId="LiveId" clId="{03255B3B-D5FC-4ACA-BECD-3DCCEBD047BA}" dt="2026-02-19T13:54:54.681" v="189" actId="1076"/>
        <pc:sldMkLst>
          <pc:docMk/>
          <pc:sldMk cId="0" sldId="261"/>
        </pc:sldMkLst>
        <pc:spChg chg="add">
          <ac:chgData name="mandadi bhargavi" userId="05f2b9e77d8198f5" providerId="LiveId" clId="{03255B3B-D5FC-4ACA-BECD-3DCCEBD047BA}" dt="2026-02-19T13:47:47.942" v="161"/>
          <ac:spMkLst>
            <pc:docMk/>
            <pc:sldMk cId="0" sldId="261"/>
            <ac:spMk id="2" creationId="{2D88C29F-B680-523D-C391-94B9FF01748D}"/>
          </ac:spMkLst>
        </pc:spChg>
        <pc:spChg chg="mod">
          <ac:chgData name="mandadi bhargavi" userId="05f2b9e77d8198f5" providerId="LiveId" clId="{03255B3B-D5FC-4ACA-BECD-3DCCEBD047BA}" dt="2026-02-19T13:54:54.681" v="189" actId="1076"/>
          <ac:spMkLst>
            <pc:docMk/>
            <pc:sldMk cId="0" sldId="261"/>
            <ac:spMk id="25" creationId="{03273C32-DDC5-7A22-2FB0-05F1BAC8B68A}"/>
          </ac:spMkLst>
        </pc:spChg>
        <pc:graphicFrameChg chg="mod">
          <ac:chgData name="mandadi bhargavi" userId="05f2b9e77d8198f5" providerId="LiveId" clId="{03255B3B-D5FC-4ACA-BECD-3DCCEBD047BA}" dt="2026-02-19T13:54:33.988" v="188"/>
          <ac:graphicFrameMkLst>
            <pc:docMk/>
            <pc:sldMk cId="0" sldId="261"/>
            <ac:graphicFrameMk id="28" creationId="{574F6C72-BE44-679C-2178-F18CBF731E8E}"/>
          </ac:graphicFrameMkLst>
        </pc:graphicFrameChg>
      </pc:sldChg>
      <pc:sldChg chg="modSp">
        <pc:chgData name="mandadi bhargavi" userId="05f2b9e77d8198f5" providerId="LiveId" clId="{03255B3B-D5FC-4ACA-BECD-3DCCEBD047BA}" dt="2026-02-19T13:11:05.064" v="56" actId="403"/>
        <pc:sldMkLst>
          <pc:docMk/>
          <pc:sldMk cId="0" sldId="262"/>
        </pc:sldMkLst>
        <pc:graphicFrameChg chg="mod">
          <ac:chgData name="mandadi bhargavi" userId="05f2b9e77d8198f5" providerId="LiveId" clId="{03255B3B-D5FC-4ACA-BECD-3DCCEBD047BA}" dt="2026-02-19T13:11:05.064" v="56" actId="403"/>
          <ac:graphicFrameMkLst>
            <pc:docMk/>
            <pc:sldMk cId="0" sldId="262"/>
            <ac:graphicFrameMk id="35" creationId="{624DABA2-A713-EDED-2C6A-681AD17A5977}"/>
          </ac:graphicFrameMkLst>
        </pc:graphicFrameChg>
      </pc:sldChg>
      <pc:sldChg chg="modSp mod">
        <pc:chgData name="mandadi bhargavi" userId="05f2b9e77d8198f5" providerId="LiveId" clId="{03255B3B-D5FC-4ACA-BECD-3DCCEBD047BA}" dt="2026-02-19T13:14:35.348" v="77" actId="20577"/>
        <pc:sldMkLst>
          <pc:docMk/>
          <pc:sldMk cId="0" sldId="264"/>
        </pc:sldMkLst>
        <pc:spChg chg="mod">
          <ac:chgData name="mandadi bhargavi" userId="05f2b9e77d8198f5" providerId="LiveId" clId="{03255B3B-D5FC-4ACA-BECD-3DCCEBD047BA}" dt="2026-02-19T13:14:35.348" v="77" actId="20577"/>
          <ac:spMkLst>
            <pc:docMk/>
            <pc:sldMk cId="0" sldId="264"/>
            <ac:spMk id="29" creationId="{DE4B262B-9471-4A0C-BDCA-D94801D9C83A}"/>
          </ac:spMkLst>
        </pc:spChg>
      </pc:sldChg>
      <pc:sldChg chg="modSp mod">
        <pc:chgData name="mandadi bhargavi" userId="05f2b9e77d8198f5" providerId="LiveId" clId="{03255B3B-D5FC-4ACA-BECD-3DCCEBD047BA}" dt="2026-02-19T13:02:35.678" v="7" actId="207"/>
        <pc:sldMkLst>
          <pc:docMk/>
          <pc:sldMk cId="0" sldId="266"/>
        </pc:sldMkLst>
        <pc:spChg chg="mod">
          <ac:chgData name="mandadi bhargavi" userId="05f2b9e77d8198f5" providerId="LiveId" clId="{03255B3B-D5FC-4ACA-BECD-3DCCEBD047BA}" dt="2026-02-19T13:02:35.678" v="7" actId="207"/>
          <ac:spMkLst>
            <pc:docMk/>
            <pc:sldMk cId="0" sldId="266"/>
            <ac:spMk id="8" creationId="{778DFC95-8B33-1026-3827-CB8945D57BB0}"/>
          </ac:spMkLst>
        </pc:spChg>
      </pc:sldChg>
      <pc:sldChg chg="modSp mod">
        <pc:chgData name="mandadi bhargavi" userId="05f2b9e77d8198f5" providerId="LiveId" clId="{03255B3B-D5FC-4ACA-BECD-3DCCEBD047BA}" dt="2026-02-19T13:15:56.241" v="79" actId="20577"/>
        <pc:sldMkLst>
          <pc:docMk/>
          <pc:sldMk cId="4207799606" sldId="267"/>
        </pc:sldMkLst>
        <pc:spChg chg="mod">
          <ac:chgData name="mandadi bhargavi" userId="05f2b9e77d8198f5" providerId="LiveId" clId="{03255B3B-D5FC-4ACA-BECD-3DCCEBD047BA}" dt="2026-02-19T13:00:55.043" v="2" actId="2711"/>
          <ac:spMkLst>
            <pc:docMk/>
            <pc:sldMk cId="4207799606" sldId="267"/>
            <ac:spMk id="2" creationId="{A8727027-E6BD-D924-D026-89A5A8AB1A9E}"/>
          </ac:spMkLst>
        </pc:spChg>
        <pc:graphicFrameChg chg="mod">
          <ac:chgData name="mandadi bhargavi" userId="05f2b9e77d8198f5" providerId="LiveId" clId="{03255B3B-D5FC-4ACA-BECD-3DCCEBD047BA}" dt="2026-02-19T13:15:56.241" v="79" actId="20577"/>
          <ac:graphicFrameMkLst>
            <pc:docMk/>
            <pc:sldMk cId="4207799606" sldId="267"/>
            <ac:graphicFrameMk id="4" creationId="{12936069-1E25-9164-6C1A-27862293CCF2}"/>
          </ac:graphicFrameMkLst>
        </pc:graphicFrameChg>
      </pc:sldChg>
      <pc:sldChg chg="modSp mod">
        <pc:chgData name="mandadi bhargavi" userId="05f2b9e77d8198f5" providerId="LiveId" clId="{03255B3B-D5FC-4ACA-BECD-3DCCEBD047BA}" dt="2026-02-19T13:07:26.625" v="47" actId="20577"/>
        <pc:sldMkLst>
          <pc:docMk/>
          <pc:sldMk cId="26768189" sldId="268"/>
        </pc:sldMkLst>
        <pc:spChg chg="mod">
          <ac:chgData name="mandadi bhargavi" userId="05f2b9e77d8198f5" providerId="LiveId" clId="{03255B3B-D5FC-4ACA-BECD-3DCCEBD047BA}" dt="2026-02-19T13:02:55.636" v="9" actId="2711"/>
          <ac:spMkLst>
            <pc:docMk/>
            <pc:sldMk cId="26768189" sldId="268"/>
            <ac:spMk id="3" creationId="{A88E21BD-6022-B049-097D-A36055F3B56D}"/>
          </ac:spMkLst>
        </pc:spChg>
        <pc:graphicFrameChg chg="mod">
          <ac:chgData name="mandadi bhargavi" userId="05f2b9e77d8198f5" providerId="LiveId" clId="{03255B3B-D5FC-4ACA-BECD-3DCCEBD047BA}" dt="2026-02-19T13:07:26.625" v="47" actId="20577"/>
          <ac:graphicFrameMkLst>
            <pc:docMk/>
            <pc:sldMk cId="26768189" sldId="268"/>
            <ac:graphicFrameMk id="5" creationId="{4A06E92B-1335-270C-E402-764243208706}"/>
          </ac:graphicFrameMkLst>
        </pc:graphicFrameChg>
      </pc:sldChg>
      <pc:sldChg chg="modSp mod">
        <pc:chgData name="mandadi bhargavi" userId="05f2b9e77d8198f5" providerId="LiveId" clId="{03255B3B-D5FC-4ACA-BECD-3DCCEBD047BA}" dt="2026-02-19T13:03:25.591" v="12" actId="1076"/>
        <pc:sldMkLst>
          <pc:docMk/>
          <pc:sldMk cId="2443163727" sldId="269"/>
        </pc:sldMkLst>
        <pc:spChg chg="mod">
          <ac:chgData name="mandadi bhargavi" userId="05f2b9e77d8198f5" providerId="LiveId" clId="{03255B3B-D5FC-4ACA-BECD-3DCCEBD047BA}" dt="2026-02-19T13:03:25.591" v="12" actId="1076"/>
          <ac:spMkLst>
            <pc:docMk/>
            <pc:sldMk cId="2443163727" sldId="269"/>
            <ac:spMk id="2" creationId="{8CD6EC91-43D8-6873-2138-769C4A8BBBF9}"/>
          </ac:spMkLst>
        </pc:spChg>
        <pc:spChg chg="mod">
          <ac:chgData name="mandadi bhargavi" userId="05f2b9e77d8198f5" providerId="LiveId" clId="{03255B3B-D5FC-4ACA-BECD-3DCCEBD047BA}" dt="2026-02-19T13:03:18.371" v="11" actId="1076"/>
          <ac:spMkLst>
            <pc:docMk/>
            <pc:sldMk cId="2443163727" sldId="269"/>
            <ac:spMk id="4" creationId="{74D88607-0D7B-4EE9-C7F5-2DE040BFBEB0}"/>
          </ac:spMkLst>
        </pc:spChg>
      </pc:sldChg>
      <pc:sldChg chg="modSp mod">
        <pc:chgData name="mandadi bhargavi" userId="05f2b9e77d8198f5" providerId="LiveId" clId="{03255B3B-D5FC-4ACA-BECD-3DCCEBD047BA}" dt="2026-02-19T13:01:40.730" v="4" actId="2711"/>
        <pc:sldMkLst>
          <pc:docMk/>
          <pc:sldMk cId="3506286596" sldId="270"/>
        </pc:sldMkLst>
        <pc:spChg chg="mod">
          <ac:chgData name="mandadi bhargavi" userId="05f2b9e77d8198f5" providerId="LiveId" clId="{03255B3B-D5FC-4ACA-BECD-3DCCEBD047BA}" dt="2026-02-19T13:01:40.730" v="4" actId="2711"/>
          <ac:spMkLst>
            <pc:docMk/>
            <pc:sldMk cId="3506286596" sldId="270"/>
            <ac:spMk id="2" creationId="{7133BBBE-7F33-84A4-E45C-4F1C0AD8C36C}"/>
          </ac:spMkLst>
        </pc:spChg>
      </pc:sldChg>
      <pc:sldChg chg="modSp mod">
        <pc:chgData name="mandadi bhargavi" userId="05f2b9e77d8198f5" providerId="LiveId" clId="{03255B3B-D5FC-4ACA-BECD-3DCCEBD047BA}" dt="2026-02-19T13:16:27.465" v="89" actId="403"/>
        <pc:sldMkLst>
          <pc:docMk/>
          <pc:sldMk cId="4095361230" sldId="271"/>
        </pc:sldMkLst>
        <pc:spChg chg="mod">
          <ac:chgData name="mandadi bhargavi" userId="05f2b9e77d8198f5" providerId="LiveId" clId="{03255B3B-D5FC-4ACA-BECD-3DCCEBD047BA}" dt="2026-02-19T13:03:36.747" v="13" actId="2711"/>
          <ac:spMkLst>
            <pc:docMk/>
            <pc:sldMk cId="4095361230" sldId="271"/>
            <ac:spMk id="5" creationId="{889BA07E-DCF8-E9A2-C610-C0C9ECB07755}"/>
          </ac:spMkLst>
        </pc:spChg>
        <pc:spChg chg="mod">
          <ac:chgData name="mandadi bhargavi" userId="05f2b9e77d8198f5" providerId="LiveId" clId="{03255B3B-D5FC-4ACA-BECD-3DCCEBD047BA}" dt="2026-02-19T13:03:50.108" v="14" actId="1076"/>
          <ac:spMkLst>
            <pc:docMk/>
            <pc:sldMk cId="4095361230" sldId="271"/>
            <ac:spMk id="6" creationId="{EECB8B9B-7E16-2AFB-9C63-F286DF509428}"/>
          </ac:spMkLst>
        </pc:spChg>
        <pc:graphicFrameChg chg="mod">
          <ac:chgData name="mandadi bhargavi" userId="05f2b9e77d8198f5" providerId="LiveId" clId="{03255B3B-D5FC-4ACA-BECD-3DCCEBD047BA}" dt="2026-02-19T13:16:27.465" v="89" actId="403"/>
          <ac:graphicFrameMkLst>
            <pc:docMk/>
            <pc:sldMk cId="4095361230" sldId="271"/>
            <ac:graphicFrameMk id="2" creationId="{04821F8C-FBE5-2A66-ACAD-D71071B8F595}"/>
          </ac:graphicFrameMkLst>
        </pc:graphicFrameChg>
      </pc:sldChg>
      <pc:sldChg chg="modSp mod">
        <pc:chgData name="mandadi bhargavi" userId="05f2b9e77d8198f5" providerId="LiveId" clId="{03255B3B-D5FC-4ACA-BECD-3DCCEBD047BA}" dt="2026-02-19T13:17:45.532" v="94" actId="20577"/>
        <pc:sldMkLst>
          <pc:docMk/>
          <pc:sldMk cId="290795009" sldId="275"/>
        </pc:sldMkLst>
        <pc:spChg chg="mod">
          <ac:chgData name="mandadi bhargavi" userId="05f2b9e77d8198f5" providerId="LiveId" clId="{03255B3B-D5FC-4ACA-BECD-3DCCEBD047BA}" dt="2026-02-19T13:04:01.795" v="15" actId="2711"/>
          <ac:spMkLst>
            <pc:docMk/>
            <pc:sldMk cId="290795009" sldId="275"/>
            <ac:spMk id="5" creationId="{DF5583C4-100C-3224-F54E-B8D5FA800E86}"/>
          </ac:spMkLst>
        </pc:spChg>
        <pc:spChg chg="mod">
          <ac:chgData name="mandadi bhargavi" userId="05f2b9e77d8198f5" providerId="LiveId" clId="{03255B3B-D5FC-4ACA-BECD-3DCCEBD047BA}" dt="2026-02-19T13:17:45.532" v="94" actId="20577"/>
          <ac:spMkLst>
            <pc:docMk/>
            <pc:sldMk cId="290795009" sldId="275"/>
            <ac:spMk id="6" creationId="{6846C08E-1940-C40E-B36E-3058935FDB71}"/>
          </ac:spMkLst>
        </pc:spChg>
        <pc:graphicFrameChg chg="mod">
          <ac:chgData name="mandadi bhargavi" userId="05f2b9e77d8198f5" providerId="LiveId" clId="{03255B3B-D5FC-4ACA-BECD-3DCCEBD047BA}" dt="2026-02-19T13:16:57.198" v="90" actId="403"/>
          <ac:graphicFrameMkLst>
            <pc:docMk/>
            <pc:sldMk cId="290795009" sldId="275"/>
            <ac:graphicFrameMk id="2" creationId="{FB1A3A84-09BD-A92C-8C6D-48509D9868F2}"/>
          </ac:graphicFrameMkLst>
        </pc:graphicFrameChg>
      </pc:sldChg>
      <pc:sldChg chg="modSp mod">
        <pc:chgData name="mandadi bhargavi" userId="05f2b9e77d8198f5" providerId="LiveId" clId="{03255B3B-D5FC-4ACA-BECD-3DCCEBD047BA}" dt="2026-02-19T13:04:15.839" v="16" actId="2711"/>
        <pc:sldMkLst>
          <pc:docMk/>
          <pc:sldMk cId="3639801012" sldId="276"/>
        </pc:sldMkLst>
        <pc:spChg chg="mod">
          <ac:chgData name="mandadi bhargavi" userId="05f2b9e77d8198f5" providerId="LiveId" clId="{03255B3B-D5FC-4ACA-BECD-3DCCEBD047BA}" dt="2026-02-19T13:04:15.839" v="16" actId="2711"/>
          <ac:spMkLst>
            <pc:docMk/>
            <pc:sldMk cId="3639801012" sldId="276"/>
            <ac:spMk id="2" creationId="{C50F49E7-A1FC-1805-AAC1-E6E1F2A2CFD5}"/>
          </ac:spMkLst>
        </pc:spChg>
      </pc:sldChg>
      <pc:sldChg chg="addSp delSp modSp mod">
        <pc:chgData name="mandadi bhargavi" userId="05f2b9e77d8198f5" providerId="LiveId" clId="{03255B3B-D5FC-4ACA-BECD-3DCCEBD047BA}" dt="2026-02-19T13:55:12.885" v="190" actId="478"/>
        <pc:sldMkLst>
          <pc:docMk/>
          <pc:sldMk cId="1840526574" sldId="277"/>
        </pc:sldMkLst>
        <pc:spChg chg="add del mod">
          <ac:chgData name="mandadi bhargavi" userId="05f2b9e77d8198f5" providerId="LiveId" clId="{03255B3B-D5FC-4ACA-BECD-3DCCEBD047BA}" dt="2026-02-19T13:55:12.885" v="190" actId="478"/>
          <ac:spMkLst>
            <pc:docMk/>
            <pc:sldMk cId="1840526574" sldId="277"/>
            <ac:spMk id="5" creationId="{673B565F-0285-7517-87CB-418C0C2F3892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05f2b9e77d8198f5/Documents/Healthcare_Dashboard_Dataset_10000%20(1)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05f2b9e77d8198f5/Documents/Healthcare_Dashboard_Dataset_10000%20(1)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05f2b9e77d8198f5/Documents/Healthcare_Dashboard_Dataset_10000%20(1)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05f2b9e77d8198f5/Documents/Healthcare_Dashboard_Dataset_10000%20(1)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05f2b9e77d8198f5/Documents/Healthcare_Dashboard_Dataset_10000%20(1)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05f2b9e77d8198f5/Documents/Healthcare_Dashboard_Dataset_10000%20(1)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05f2b9e77d8198f5/Documents/Healthcare_Dashboard_Dataset_10000%20(1)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05f2b9e77d8198f5/Desktop/Health%20care%20Dashboards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05f2b9e77d8198f5/Desktop/Health%20care%20Dashboards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05f2b9e77d8198f5/Desktop/Health%20care%20Dashboards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05f2b9e77d8198f5/Desktop/Health%20care%20Dashboards.xlsx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05f2b9e77d8198f5/Desktop/Health%20care%20Dashboards.xlsx" TargetMode="External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05f2b9e77d8198f5/Desktop/Health%20care%20Dashboards.xlsx" TargetMode="External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05f2b9e77d8198f5/Desktop/Health%20care%20Dashboards.xlsx" TargetMode="External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05f2b9e77d8198f5/Desktop/Health%20care%20Dashboards.xlsx" TargetMode="External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[Healthcare_Dashboard_Dataset_10000 (1).xlsx]patient demographics!PivotTable1</c:name>
    <c:fmtId val="1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800" b="1" i="0" u="none" strike="noStrike" kern="1200" spc="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r>
              <a:rPr lang="en-US" sz="2800" b="1" dirty="0"/>
              <a:t>Gender Wise</a:t>
            </a:r>
            <a:r>
              <a:rPr lang="en-US" sz="2800" b="1" baseline="0" dirty="0"/>
              <a:t> Visits</a:t>
            </a:r>
            <a:endParaRPr lang="en-US" sz="2800" b="1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800" b="1" i="0" u="none" strike="noStrike" kern="1200" spc="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1">
                  <a:shade val="51000"/>
                  <a:satMod val="130000"/>
                </a:schemeClr>
              </a:gs>
              <a:gs pos="80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</a:scheme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shade val="51000"/>
                  <a:satMod val="130000"/>
                </a:schemeClr>
              </a:gs>
              <a:gs pos="80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</a:scheme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dLbl>
          <c:idx val="0"/>
          <c:layout>
            <c:manualLayout>
              <c:x val="0"/>
              <c:y val="-0.2698285652443678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shade val="51000"/>
                  <a:satMod val="130000"/>
                </a:schemeClr>
              </a:gs>
              <a:gs pos="80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</a:scheme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dLbl>
          <c:idx val="0"/>
          <c:layout>
            <c:manualLayout>
              <c:x val="-2.9284276134781073E-2"/>
              <c:y val="-0.2477524667970732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accent1">
                  <a:shade val="51000"/>
                  <a:satMod val="130000"/>
                </a:schemeClr>
              </a:gs>
              <a:gs pos="80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</a:scheme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dLbl>
          <c:idx val="0"/>
          <c:layout>
            <c:manualLayout>
              <c:x val="8.1182658744858565E-3"/>
              <c:y val="-0.22345178059299217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 rotWithShape="1">
            <a:gsLst>
              <a:gs pos="0">
                <a:schemeClr val="accent1">
                  <a:shade val="51000"/>
                  <a:satMod val="130000"/>
                </a:schemeClr>
              </a:gs>
              <a:gs pos="80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</a:scheme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gradFill rotWithShape="1">
            <a:gsLst>
              <a:gs pos="0">
                <a:schemeClr val="accent1">
                  <a:shade val="51000"/>
                  <a:satMod val="130000"/>
                </a:schemeClr>
              </a:gs>
              <a:gs pos="80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</a:scheme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dLbl>
          <c:idx val="0"/>
          <c:layout>
            <c:manualLayout>
              <c:x val="8.1182658744858565E-3"/>
              <c:y val="-0.22345178059299217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gradFill rotWithShape="1">
            <a:gsLst>
              <a:gs pos="0">
                <a:schemeClr val="accent1">
                  <a:shade val="51000"/>
                  <a:satMod val="130000"/>
                </a:schemeClr>
              </a:gs>
              <a:gs pos="80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</a:scheme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dLbl>
          <c:idx val="0"/>
          <c:layout>
            <c:manualLayout>
              <c:x val="-2.9284276134781073E-2"/>
              <c:y val="-0.2477524667970732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gradFill rotWithShape="1">
            <a:gsLst>
              <a:gs pos="0">
                <a:schemeClr val="accent1">
                  <a:shade val="51000"/>
                  <a:satMod val="130000"/>
                </a:schemeClr>
              </a:gs>
              <a:gs pos="80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</a:scheme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dLbl>
          <c:idx val="0"/>
          <c:layout>
            <c:manualLayout>
              <c:x val="0"/>
              <c:y val="-0.2698285652443678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gradFill rotWithShape="1">
            <a:gsLst>
              <a:gs pos="0">
                <a:schemeClr val="accent1">
                  <a:shade val="51000"/>
                  <a:satMod val="130000"/>
                </a:schemeClr>
              </a:gs>
              <a:gs pos="80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</a:scheme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gradFill rotWithShape="1">
            <a:gsLst>
              <a:gs pos="0">
                <a:schemeClr val="accent1">
                  <a:shade val="51000"/>
                  <a:satMod val="130000"/>
                </a:schemeClr>
              </a:gs>
              <a:gs pos="80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</a:scheme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dLbl>
          <c:idx val="0"/>
          <c:layout>
            <c:manualLayout>
              <c:x val="8.1182658744858565E-3"/>
              <c:y val="-0.22345178059299217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gradFill rotWithShape="1">
            <a:gsLst>
              <a:gs pos="0">
                <a:schemeClr val="accent1">
                  <a:shade val="51000"/>
                  <a:satMod val="130000"/>
                </a:schemeClr>
              </a:gs>
              <a:gs pos="80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</a:scheme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dLbl>
          <c:idx val="0"/>
          <c:layout>
            <c:manualLayout>
              <c:x val="-2.9284276134781073E-2"/>
              <c:y val="-0.2477524667970732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gradFill rotWithShape="1">
            <a:gsLst>
              <a:gs pos="0">
                <a:schemeClr val="accent1">
                  <a:shade val="51000"/>
                  <a:satMod val="130000"/>
                </a:schemeClr>
              </a:gs>
              <a:gs pos="80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</a:scheme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dLbl>
          <c:idx val="0"/>
          <c:layout>
            <c:manualLayout>
              <c:x val="0"/>
              <c:y val="-0.2698285652443678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9.1672524841829264E-2"/>
          <c:y val="0.22044165231463544"/>
          <c:w val="0.7228400676729726"/>
          <c:h val="0.55743473872455196"/>
        </c:manualLayout>
      </c:layout>
      <c:areaChart>
        <c:grouping val="standard"/>
        <c:varyColors val="0"/>
        <c:ser>
          <c:idx val="0"/>
          <c:order val="0"/>
          <c:tx>
            <c:strRef>
              <c:f>'patient demographics'!$B$3</c:f>
              <c:strCache>
                <c:ptCount val="1"/>
                <c:pt idx="0">
                  <c:v>Total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dPt>
            <c:idx val="0"/>
            <c:bubble3D val="0"/>
            <c:extLst>
              <c:ext xmlns:c16="http://schemas.microsoft.com/office/drawing/2014/chart" uri="{C3380CC4-5D6E-409C-BE32-E72D297353CC}">
                <c16:uniqueId val="{00000000-F08B-4E50-B908-55BA74130E8E}"/>
              </c:ext>
            </c:extLst>
          </c:dPt>
          <c:dPt>
            <c:idx val="1"/>
            <c:bubble3D val="0"/>
            <c:extLst>
              <c:ext xmlns:c16="http://schemas.microsoft.com/office/drawing/2014/chart" uri="{C3380CC4-5D6E-409C-BE32-E72D297353CC}">
                <c16:uniqueId val="{00000001-F08B-4E50-B908-55BA74130E8E}"/>
              </c:ext>
            </c:extLst>
          </c:dPt>
          <c:dPt>
            <c:idx val="2"/>
            <c:bubble3D val="0"/>
            <c:extLst>
              <c:ext xmlns:c16="http://schemas.microsoft.com/office/drawing/2014/chart" uri="{C3380CC4-5D6E-409C-BE32-E72D297353CC}">
                <c16:uniqueId val="{00000002-F08B-4E50-B908-55BA74130E8E}"/>
              </c:ext>
            </c:extLst>
          </c:dPt>
          <c:dLbls>
            <c:dLbl>
              <c:idx val="0"/>
              <c:layout>
                <c:manualLayout>
                  <c:x val="8.1182653429182159E-3"/>
                  <c:y val="-0.18637339961105734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F08B-4E50-B908-55BA74130E8E}"/>
                </c:ext>
              </c:extLst>
            </c:dLbl>
            <c:dLbl>
              <c:idx val="1"/>
              <c:layout>
                <c:manualLayout>
                  <c:x val="-2.9284281489348286E-2"/>
                  <c:y val="-0.2180899531499484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08B-4E50-B908-55BA74130E8E}"/>
                </c:ext>
              </c:extLst>
            </c:dLbl>
            <c:dLbl>
              <c:idx val="2"/>
              <c:layout>
                <c:manualLayout>
                  <c:x val="0"/>
                  <c:y val="-0.2698285652443678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F08B-4E50-B908-55BA74130E8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800" b="1" i="0" u="none" strike="noStrike" kern="1200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'patient demographics'!$A$4:$A$7</c:f>
              <c:strCache>
                <c:ptCount val="3"/>
                <c:pt idx="0">
                  <c:v>Male</c:v>
                </c:pt>
                <c:pt idx="1">
                  <c:v>Other</c:v>
                </c:pt>
                <c:pt idx="2">
                  <c:v>Female</c:v>
                </c:pt>
              </c:strCache>
            </c:strRef>
          </c:cat>
          <c:val>
            <c:numRef>
              <c:f>'patient demographics'!$B$4:$B$7</c:f>
              <c:numCache>
                <c:formatCode>0%</c:formatCode>
                <c:ptCount val="3"/>
                <c:pt idx="0">
                  <c:v>0.32779999999999998</c:v>
                </c:pt>
                <c:pt idx="1">
                  <c:v>0.33439999999999998</c:v>
                </c:pt>
                <c:pt idx="2">
                  <c:v>0.33779999999999999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08B-4E50-B908-55BA74130E8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axId val="1821634095"/>
        <c:axId val="1821621135"/>
      </c:areaChart>
      <c:catAx>
        <c:axId val="1821634095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21621135"/>
        <c:crosses val="autoZero"/>
        <c:auto val="1"/>
        <c:lblAlgn val="ctr"/>
        <c:lblOffset val="100"/>
        <c:noMultiLvlLbl val="0"/>
      </c:catAx>
      <c:valAx>
        <c:axId val="1821621135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1821634095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accent4">
        <a:lumMod val="60000"/>
        <a:lumOff val="40000"/>
      </a:schemeClr>
    </a:solidFill>
    <a:ln w="9525" cap="flat" cmpd="sng" algn="ctr">
      <a:solidFill>
        <a:schemeClr val="accent3">
          <a:shade val="95000"/>
          <a:satMod val="105000"/>
        </a:schemeClr>
      </a:solidFill>
      <a:prstDash val="solid"/>
      <a:round/>
    </a:ln>
    <a:effectLst>
      <a:outerShdw blurRad="40000" dist="20000" dir="5400000" rotWithShape="0">
        <a:srgbClr val="000000">
          <a:alpha val="38000"/>
        </a:srgbClr>
      </a:outerShdw>
    </a:effectLst>
  </c:spPr>
  <c:txPr>
    <a:bodyPr/>
    <a:lstStyle/>
    <a:p>
      <a:pPr>
        <a:defRPr>
          <a:solidFill>
            <a:schemeClr val="dk1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[Healthcare_Dashboard_Dataset_10000 (1).xlsx]patient demographics!PivotTable2</c:name>
    <c:fmtId val="1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800" b="1" i="0" u="none" strike="noStrike" kern="1200" spc="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r>
              <a:rPr lang="en-US" sz="2800" b="1" dirty="0"/>
              <a:t>Age Group Wise Visits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800" b="1" i="0" u="none" strike="noStrike" kern="1200" spc="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600" b="1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3.9661606341901266E-2"/>
              <c:y val="-0.11183219886758895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600" b="1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8.2628346545627632E-2"/>
              <c:y val="8.6024768359683784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600" b="1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0.10576428357840337"/>
              <c:y val="3.0108668925889322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600" b="1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0.10906941744022848"/>
              <c:y val="-3.0108668925889322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600" b="1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3.9661606341901266E-2"/>
              <c:y val="-0.11183219886758895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600" b="1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600" b="1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3.9661606341901266E-2"/>
              <c:y val="-0.11183219886758895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600" b="1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8.2628346545627632E-2"/>
              <c:y val="8.6024768359683784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600" b="1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0.10576428357840337"/>
              <c:y val="3.0108668925889322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600" b="1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0.10906941744022848"/>
              <c:y val="-3.0108668925889322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600" b="1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3.9661606341901266E-2"/>
              <c:y val="-0.11183219886758895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600" b="1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600" b="1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3.9661606341901266E-2"/>
              <c:y val="-0.11183219886758895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600" b="1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8.2628346545627632E-2"/>
              <c:y val="8.6024768359683784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600" b="1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0.10576428357840337"/>
              <c:y val="3.0108668925889322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600" b="1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0.10906941744022848"/>
              <c:y val="-3.0108668925889322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600" b="1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3.9661606341901266E-2"/>
              <c:y val="-0.11183219886758895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600" b="1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8176042753691934"/>
          <c:y val="0.2455045202682998"/>
          <c:w val="0.43093584101294874"/>
          <c:h val="0.69523621285799297"/>
        </c:manualLayout>
      </c:layout>
      <c:doughnutChart>
        <c:varyColors val="1"/>
        <c:ser>
          <c:idx val="0"/>
          <c:order val="0"/>
          <c:tx>
            <c:strRef>
              <c:f>'patient demographics'!$B$10</c:f>
              <c:strCache>
                <c:ptCount val="1"/>
                <c:pt idx="0">
                  <c:v>Total</c:v>
                </c:pt>
              </c:strCache>
            </c:strRef>
          </c:tx>
          <c:explosion val="1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1C6E-47FF-8120-C1F9D7E1AF00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1C6E-47FF-8120-C1F9D7E1AF00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1C6E-47FF-8120-C1F9D7E1AF00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1C6E-47FF-8120-C1F9D7E1AF00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1C6E-47FF-8120-C1F9D7E1AF00}"/>
              </c:ext>
            </c:extLst>
          </c:dPt>
          <c:dLbls>
            <c:dLbl>
              <c:idx val="0"/>
              <c:layout>
                <c:manualLayout>
                  <c:x val="3.9661606341901266E-2"/>
                  <c:y val="-0.11183219886758895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C6E-47FF-8120-C1F9D7E1AF00}"/>
                </c:ext>
              </c:extLst>
            </c:dLbl>
            <c:dLbl>
              <c:idx val="1"/>
              <c:layout>
                <c:manualLayout>
                  <c:x val="8.2628346545627632E-2"/>
                  <c:y val="8.602476835968378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C6E-47FF-8120-C1F9D7E1AF00}"/>
                </c:ext>
              </c:extLst>
            </c:dLbl>
            <c:dLbl>
              <c:idx val="2"/>
              <c:layout>
                <c:manualLayout>
                  <c:x val="-0.10576428357840337"/>
                  <c:y val="3.010866892588932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C6E-47FF-8120-C1F9D7E1AF00}"/>
                </c:ext>
              </c:extLst>
            </c:dLbl>
            <c:dLbl>
              <c:idx val="3"/>
              <c:layout>
                <c:manualLayout>
                  <c:x val="-0.10906941744022848"/>
                  <c:y val="-3.010866892588932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1C6E-47FF-8120-C1F9D7E1AF00}"/>
                </c:ext>
              </c:extLst>
            </c:dLbl>
            <c:dLbl>
              <c:idx val="4"/>
              <c:layout>
                <c:manualLayout>
                  <c:x val="3.9661606341901266E-2"/>
                  <c:y val="-0.11183219886758895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1C6E-47FF-8120-C1F9D7E1AF0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'patient demographics'!$A$11:$A$16</c:f>
              <c:strCache>
                <c:ptCount val="5"/>
                <c:pt idx="0">
                  <c:v>0-18</c:v>
                </c:pt>
                <c:pt idx="1">
                  <c:v>19-35</c:v>
                </c:pt>
                <c:pt idx="2">
                  <c:v>36-50</c:v>
                </c:pt>
                <c:pt idx="3">
                  <c:v>51-65</c:v>
                </c:pt>
                <c:pt idx="4">
                  <c:v>65+</c:v>
                </c:pt>
              </c:strCache>
            </c:strRef>
          </c:cat>
          <c:val>
            <c:numRef>
              <c:f>'patient demographics'!$B$11:$B$16</c:f>
              <c:numCache>
                <c:formatCode>0%</c:formatCode>
                <c:ptCount val="5"/>
                <c:pt idx="0">
                  <c:v>0.15079999999999999</c:v>
                </c:pt>
                <c:pt idx="1">
                  <c:v>0.3009</c:v>
                </c:pt>
                <c:pt idx="2">
                  <c:v>0.25019999999999998</c:v>
                </c:pt>
                <c:pt idx="3">
                  <c:v>0.19739999999999999</c:v>
                </c:pt>
                <c:pt idx="4">
                  <c:v>0.1007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1C6E-47FF-8120-C1F9D7E1AF0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accent4">
        <a:lumMod val="60000"/>
        <a:lumOff val="40000"/>
      </a:schemeClr>
    </a:solidFill>
    <a:ln w="9525" cap="flat" cmpd="sng" algn="ctr">
      <a:solidFill>
        <a:schemeClr val="accent3">
          <a:shade val="95000"/>
          <a:satMod val="105000"/>
        </a:schemeClr>
      </a:solidFill>
      <a:prstDash val="solid"/>
      <a:round/>
    </a:ln>
    <a:effectLst>
      <a:outerShdw blurRad="40000" dist="20000" dir="5400000" rotWithShape="0">
        <a:srgbClr val="000000">
          <a:alpha val="38000"/>
        </a:srgbClr>
      </a:outerShdw>
    </a:effectLst>
  </c:spPr>
  <c:txPr>
    <a:bodyPr/>
    <a:lstStyle/>
    <a:p>
      <a:pPr>
        <a:defRPr>
          <a:solidFill>
            <a:schemeClr val="dk1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[Healthcare_Dashboard_Dataset_10000 (1).xlsx]patient demographics!PivotTable3</c:name>
    <c:fmtId val="16"/>
  </c:pivotSource>
  <c:chart>
    <c:title>
      <c:tx>
        <c:rich>
          <a:bodyPr rot="0" spcFirstLastPara="1" vertOverflow="ellipsis" vert="horz" wrap="square" anchor="ctr" anchorCtr="1"/>
          <a:lstStyle/>
          <a:p>
            <a:pPr algn="ctr">
              <a:defRPr sz="3200" b="0" i="0" u="none" strike="noStrike" kern="1200" spc="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r>
              <a:rPr lang="en-US" sz="3600" dirty="0"/>
              <a:t>City</a:t>
            </a:r>
            <a:r>
              <a:rPr lang="en-US" sz="3200" dirty="0"/>
              <a:t> Wise Visits  </a:t>
            </a:r>
          </a:p>
        </c:rich>
      </c:tx>
      <c:layout>
        <c:manualLayout>
          <c:xMode val="edge"/>
          <c:yMode val="edge"/>
          <c:x val="0.30335598133127128"/>
          <c:y val="1.8320393133614322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>
            <a:defRPr sz="3200" b="0" i="0" u="none" strike="noStrike" kern="1200" spc="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6"/>
          </a:solidFill>
          <a:ln>
            <a:noFill/>
          </a:ln>
          <a:effectLst/>
          <a:sp3d>
            <a:contourClr>
              <a:schemeClr val="accent4">
                <a:shade val="15000"/>
              </a:schemeClr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800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6"/>
          </a:solidFill>
          <a:ln>
            <a:noFill/>
          </a:ln>
          <a:effectLst/>
          <a:sp3d>
            <a:contourClr>
              <a:schemeClr val="accent4">
                <a:shade val="15000"/>
              </a:schemeClr>
            </a:contourClr>
          </a:sp3d>
        </c:spPr>
        <c:dLbl>
          <c:idx val="0"/>
          <c:layout>
            <c:manualLayout>
              <c:x val="1.0821864745663538E-2"/>
              <c:y val="-0.41108979184904437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800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6"/>
          </a:solidFill>
          <a:ln>
            <a:noFill/>
          </a:ln>
          <a:effectLst/>
          <a:sp3d>
            <a:contourClr>
              <a:schemeClr val="accent4">
                <a:shade val="15000"/>
              </a:schemeClr>
            </a:contourClr>
          </a:sp3d>
        </c:spPr>
        <c:dLbl>
          <c:idx val="0"/>
          <c:layout>
            <c:manualLayout>
              <c:x val="1.067205674535204E-2"/>
              <c:y val="-0.40390188998496801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800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6"/>
          </a:solidFill>
          <a:ln>
            <a:noFill/>
          </a:ln>
          <a:effectLst/>
          <a:sp3d>
            <a:contourClr>
              <a:schemeClr val="accent4">
                <a:shade val="15000"/>
              </a:schemeClr>
            </a:contourClr>
          </a:sp3d>
        </c:spPr>
        <c:dLbl>
          <c:idx val="0"/>
          <c:layout>
            <c:manualLayout>
              <c:x val="1.7936052014691905E-2"/>
              <c:y val="-0.32507088751517771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800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6"/>
          </a:solidFill>
          <a:ln>
            <a:noFill/>
          </a:ln>
          <a:effectLst/>
          <a:sp3d>
            <a:contourClr>
              <a:schemeClr val="accent4">
                <a:shade val="15000"/>
              </a:schemeClr>
            </a:contourClr>
          </a:sp3d>
        </c:spPr>
        <c:dLbl>
          <c:idx val="0"/>
          <c:layout>
            <c:manualLayout>
              <c:x val="7.1147954566245621E-3"/>
              <c:y val="-0.161005922469490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800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6"/>
          </a:solidFill>
          <a:ln>
            <a:noFill/>
          </a:ln>
          <a:effectLst/>
          <a:sp3d>
            <a:contourClr>
              <a:schemeClr val="accent4">
                <a:shade val="15000"/>
              </a:schemeClr>
            </a:contourClr>
          </a:sp3d>
        </c:spPr>
        <c:dLbl>
          <c:idx val="0"/>
          <c:layout>
            <c:manualLayout>
              <c:x val="3.5546250469384293E-3"/>
              <c:y val="-0.422080782121847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800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6"/>
          </a:solidFill>
          <a:ln>
            <a:noFill/>
          </a:ln>
          <a:effectLst/>
          <a:sp3d>
            <a:contourClr>
              <a:schemeClr val="accent4">
                <a:shade val="15000"/>
              </a:schemeClr>
            </a:contourClr>
          </a:sp3d>
        </c:spPr>
        <c:dLbl>
          <c:idx val="0"/>
          <c:layout>
            <c:manualLayout>
              <c:x val="8.1596693728969404E-3"/>
              <c:y val="-0.31828556595167146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800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layout>
                <c:manualLayout>
                  <c:w val="5.4733754278104708E-2"/>
                  <c:h val="7.9629292106894456E-2"/>
                </c:manualLayout>
              </c15:layout>
            </c:ext>
          </c:extLst>
        </c:dLbl>
      </c:pivotFmt>
      <c:pivotFmt>
        <c:idx val="7"/>
        <c:spPr>
          <a:solidFill>
            <a:schemeClr val="accent6"/>
          </a:solidFill>
          <a:ln>
            <a:noFill/>
          </a:ln>
          <a:effectLst/>
          <a:sp3d>
            <a:contourClr>
              <a:schemeClr val="accent4">
                <a:shade val="15000"/>
              </a:schemeClr>
            </a:contourClr>
          </a:sp3d>
        </c:spPr>
        <c:dLbl>
          <c:idx val="0"/>
          <c:layout>
            <c:manualLayout>
              <c:x val="3.0476476899521716E-2"/>
              <c:y val="-0.37853982929200175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800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6"/>
          </a:solidFill>
          <a:ln>
            <a:noFill/>
          </a:ln>
          <a:effectLst/>
          <a:sp3d>
            <a:contourClr>
              <a:schemeClr val="accent4">
                <a:shade val="15000"/>
              </a:schemeClr>
            </a:contourClr>
          </a:sp3d>
        </c:spPr>
        <c:dLbl>
          <c:idx val="0"/>
          <c:layout>
            <c:manualLayout>
              <c:x val="5.329381664437232E-3"/>
              <c:y val="-0.12255463693188809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800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6"/>
          </a:solidFill>
          <a:ln>
            <a:noFill/>
          </a:ln>
          <a:effectLst/>
          <a:sp3d>
            <a:contourClr>
              <a:schemeClr val="accent4">
                <a:shade val="15000"/>
              </a:schemeClr>
            </a:contourClr>
          </a:sp3d>
        </c:spPr>
        <c:dLbl>
          <c:idx val="0"/>
          <c:layout>
            <c:manualLayout>
              <c:x val="1.0643773784841161E-2"/>
              <c:y val="-0.30650050098328246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800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layout>
                <c:manualLayout>
                  <c:w val="4.5675878197471632E-2"/>
                  <c:h val="5.7895539595575057E-2"/>
                </c:manualLayout>
              </c15:layout>
            </c:ext>
          </c:extLst>
        </c:dLbl>
      </c:pivotFmt>
      <c:pivotFmt>
        <c:idx val="10"/>
        <c:spPr>
          <a:solidFill>
            <a:schemeClr val="accent6"/>
          </a:solidFill>
          <a:ln>
            <a:noFill/>
          </a:ln>
          <a:effectLst/>
          <a:sp3d>
            <a:contourClr>
              <a:schemeClr val="accent4">
                <a:shade val="15000"/>
              </a:schemeClr>
            </a:contourClr>
          </a:sp3d>
        </c:spPr>
        <c:dLbl>
          <c:idx val="0"/>
          <c:layout>
            <c:manualLayout>
              <c:x val="5.3444215704335999E-3"/>
              <c:y val="-0.2493489210299878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800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6"/>
          </a:solidFill>
          <a:ln>
            <a:noFill/>
          </a:ln>
          <a:effectLst/>
          <a:sp3d>
            <a:contourClr>
              <a:schemeClr val="accent4">
                <a:shade val="15000"/>
              </a:schemeClr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800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6"/>
          </a:solidFill>
          <a:ln>
            <a:noFill/>
          </a:ln>
          <a:effectLst/>
          <a:sp3d>
            <a:contourClr>
              <a:schemeClr val="accent4">
                <a:shade val="15000"/>
              </a:schemeClr>
            </a:contourClr>
          </a:sp3d>
        </c:spPr>
        <c:dLbl>
          <c:idx val="0"/>
          <c:layout>
            <c:manualLayout>
              <c:x val="3.5546250469384293E-3"/>
              <c:y val="-0.422080782121847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800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6"/>
          </a:solidFill>
          <a:ln>
            <a:noFill/>
          </a:ln>
          <a:effectLst/>
          <a:sp3d>
            <a:contourClr>
              <a:schemeClr val="accent4">
                <a:shade val="15000"/>
              </a:schemeClr>
            </a:contourClr>
          </a:sp3d>
        </c:spPr>
        <c:dLbl>
          <c:idx val="0"/>
          <c:layout>
            <c:manualLayout>
              <c:x val="1.0821864745663538E-2"/>
              <c:y val="-0.41108979184904437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800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6"/>
          </a:solidFill>
          <a:ln>
            <a:noFill/>
          </a:ln>
          <a:effectLst/>
          <a:sp3d>
            <a:contourClr>
              <a:schemeClr val="accent4">
                <a:shade val="15000"/>
              </a:schemeClr>
            </a:contourClr>
          </a:sp3d>
        </c:spPr>
        <c:dLbl>
          <c:idx val="0"/>
          <c:layout>
            <c:manualLayout>
              <c:x val="1.067205674535204E-2"/>
              <c:y val="-0.40390188998496801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800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6"/>
          </a:solidFill>
          <a:ln>
            <a:noFill/>
          </a:ln>
          <a:effectLst/>
          <a:sp3d>
            <a:contourClr>
              <a:schemeClr val="accent4">
                <a:shade val="15000"/>
              </a:schemeClr>
            </a:contourClr>
          </a:sp3d>
        </c:spPr>
        <c:dLbl>
          <c:idx val="0"/>
          <c:layout>
            <c:manualLayout>
              <c:x val="3.0476476899521716E-2"/>
              <c:y val="-0.37853982929200175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800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6"/>
          </a:solidFill>
          <a:ln>
            <a:noFill/>
          </a:ln>
          <a:effectLst/>
          <a:sp3d>
            <a:contourClr>
              <a:schemeClr val="accent4">
                <a:shade val="15000"/>
              </a:schemeClr>
            </a:contourClr>
          </a:sp3d>
        </c:spPr>
        <c:dLbl>
          <c:idx val="0"/>
          <c:layout>
            <c:manualLayout>
              <c:x val="1.7936052014691905E-2"/>
              <c:y val="-0.32507088751517771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800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6"/>
          </a:solidFill>
          <a:ln>
            <a:noFill/>
          </a:ln>
          <a:effectLst/>
          <a:sp3d>
            <a:contourClr>
              <a:schemeClr val="accent4">
                <a:shade val="15000"/>
              </a:schemeClr>
            </a:contourClr>
          </a:sp3d>
        </c:spPr>
        <c:dLbl>
          <c:idx val="0"/>
          <c:layout>
            <c:manualLayout>
              <c:x val="8.1596693728969404E-3"/>
              <c:y val="-0.31828556595167146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800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layout>
                <c:manualLayout>
                  <c:w val="5.4733754278104708E-2"/>
                  <c:h val="7.9629292106894456E-2"/>
                </c:manualLayout>
              </c15:layout>
            </c:ext>
          </c:extLst>
        </c:dLbl>
      </c:pivotFmt>
      <c:pivotFmt>
        <c:idx val="18"/>
        <c:spPr>
          <a:solidFill>
            <a:schemeClr val="accent6"/>
          </a:solidFill>
          <a:ln>
            <a:noFill/>
          </a:ln>
          <a:effectLst/>
          <a:sp3d>
            <a:contourClr>
              <a:schemeClr val="accent4">
                <a:shade val="15000"/>
              </a:schemeClr>
            </a:contourClr>
          </a:sp3d>
        </c:spPr>
        <c:dLbl>
          <c:idx val="0"/>
          <c:layout>
            <c:manualLayout>
              <c:x val="1.0643773784841161E-2"/>
              <c:y val="-0.30650050098328246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800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layout>
                <c:manualLayout>
                  <c:w val="4.5675878197471632E-2"/>
                  <c:h val="5.7895539595575057E-2"/>
                </c:manualLayout>
              </c15:layout>
            </c:ext>
          </c:extLst>
        </c:dLbl>
      </c:pivotFmt>
      <c:pivotFmt>
        <c:idx val="19"/>
        <c:spPr>
          <a:solidFill>
            <a:schemeClr val="accent6"/>
          </a:solidFill>
          <a:ln>
            <a:noFill/>
          </a:ln>
          <a:effectLst/>
          <a:sp3d>
            <a:contourClr>
              <a:schemeClr val="accent4">
                <a:shade val="15000"/>
              </a:schemeClr>
            </a:contourClr>
          </a:sp3d>
        </c:spPr>
        <c:dLbl>
          <c:idx val="0"/>
          <c:layout>
            <c:manualLayout>
              <c:x val="7.1147954566245621E-3"/>
              <c:y val="-0.161005922469490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800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6"/>
          </a:solidFill>
          <a:ln>
            <a:noFill/>
          </a:ln>
          <a:effectLst/>
          <a:sp3d>
            <a:contourClr>
              <a:schemeClr val="accent4">
                <a:shade val="15000"/>
              </a:schemeClr>
            </a:contourClr>
          </a:sp3d>
        </c:spPr>
        <c:dLbl>
          <c:idx val="0"/>
          <c:layout>
            <c:manualLayout>
              <c:x val="5.329381664437232E-3"/>
              <c:y val="-0.12255463693188809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800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6"/>
          </a:solidFill>
          <a:ln>
            <a:noFill/>
          </a:ln>
          <a:effectLst/>
          <a:sp3d>
            <a:contourClr>
              <a:schemeClr val="accent4">
                <a:shade val="15000"/>
              </a:schemeClr>
            </a:contourClr>
          </a:sp3d>
        </c:spPr>
        <c:dLbl>
          <c:idx val="0"/>
          <c:layout>
            <c:manualLayout>
              <c:x val="5.3444215704335999E-3"/>
              <c:y val="-0.2493489210299878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800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solidFill>
            <a:schemeClr val="accent6"/>
          </a:solidFill>
          <a:ln>
            <a:noFill/>
          </a:ln>
          <a:effectLst/>
          <a:sp3d>
            <a:contourClr>
              <a:schemeClr val="accent4">
                <a:shade val="15000"/>
              </a:schemeClr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800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chemeClr val="accent6"/>
          </a:solidFill>
          <a:ln>
            <a:noFill/>
          </a:ln>
          <a:effectLst/>
          <a:sp3d>
            <a:contourClr>
              <a:schemeClr val="accent4">
                <a:shade val="15000"/>
              </a:schemeClr>
            </a:contourClr>
          </a:sp3d>
        </c:spPr>
        <c:dLbl>
          <c:idx val="0"/>
          <c:layout>
            <c:manualLayout>
              <c:x val="3.5546250469384293E-3"/>
              <c:y val="-0.422080782121847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800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solidFill>
            <a:schemeClr val="accent6"/>
          </a:solidFill>
          <a:ln>
            <a:noFill/>
          </a:ln>
          <a:effectLst/>
          <a:sp3d>
            <a:contourClr>
              <a:schemeClr val="accent4">
                <a:shade val="15000"/>
              </a:schemeClr>
            </a:contourClr>
          </a:sp3d>
        </c:spPr>
        <c:dLbl>
          <c:idx val="0"/>
          <c:layout>
            <c:manualLayout>
              <c:x val="1.0821864745663538E-2"/>
              <c:y val="-0.41108979184904437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800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solidFill>
            <a:schemeClr val="accent6"/>
          </a:solidFill>
          <a:ln>
            <a:noFill/>
          </a:ln>
          <a:effectLst/>
          <a:sp3d>
            <a:contourClr>
              <a:schemeClr val="accent4">
                <a:shade val="15000"/>
              </a:schemeClr>
            </a:contourClr>
          </a:sp3d>
        </c:spPr>
        <c:dLbl>
          <c:idx val="0"/>
          <c:layout>
            <c:manualLayout>
              <c:x val="1.067205674535204E-2"/>
              <c:y val="-0.40390188998496801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800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solidFill>
            <a:schemeClr val="accent6"/>
          </a:solidFill>
          <a:ln>
            <a:noFill/>
          </a:ln>
          <a:effectLst/>
          <a:sp3d>
            <a:contourClr>
              <a:schemeClr val="accent4">
                <a:shade val="15000"/>
              </a:schemeClr>
            </a:contourClr>
          </a:sp3d>
        </c:spPr>
        <c:dLbl>
          <c:idx val="0"/>
          <c:layout>
            <c:manualLayout>
              <c:x val="3.0476476899521716E-2"/>
              <c:y val="-0.37853982929200175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800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"/>
        <c:spPr>
          <a:solidFill>
            <a:schemeClr val="accent6"/>
          </a:solidFill>
          <a:ln>
            <a:noFill/>
          </a:ln>
          <a:effectLst/>
          <a:sp3d>
            <a:contourClr>
              <a:schemeClr val="accent4">
                <a:shade val="15000"/>
              </a:schemeClr>
            </a:contourClr>
          </a:sp3d>
        </c:spPr>
        <c:dLbl>
          <c:idx val="0"/>
          <c:layout>
            <c:manualLayout>
              <c:x val="1.7936052014691905E-2"/>
              <c:y val="-0.32507088751517771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800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8"/>
        <c:spPr>
          <a:solidFill>
            <a:schemeClr val="accent6"/>
          </a:solidFill>
          <a:ln>
            <a:noFill/>
          </a:ln>
          <a:effectLst/>
          <a:sp3d>
            <a:contourClr>
              <a:schemeClr val="accent4">
                <a:shade val="15000"/>
              </a:schemeClr>
            </a:contourClr>
          </a:sp3d>
        </c:spPr>
        <c:dLbl>
          <c:idx val="0"/>
          <c:layout>
            <c:manualLayout>
              <c:x val="8.1596693728969404E-3"/>
              <c:y val="-0.31828556595167146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800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layout>
                <c:manualLayout>
                  <c:w val="5.4733754278104708E-2"/>
                  <c:h val="7.9629292106894456E-2"/>
                </c:manualLayout>
              </c15:layout>
            </c:ext>
          </c:extLst>
        </c:dLbl>
      </c:pivotFmt>
      <c:pivotFmt>
        <c:idx val="29"/>
        <c:spPr>
          <a:solidFill>
            <a:schemeClr val="accent6"/>
          </a:solidFill>
          <a:ln>
            <a:noFill/>
          </a:ln>
          <a:effectLst/>
          <a:sp3d>
            <a:contourClr>
              <a:schemeClr val="accent4">
                <a:shade val="15000"/>
              </a:schemeClr>
            </a:contourClr>
          </a:sp3d>
        </c:spPr>
        <c:dLbl>
          <c:idx val="0"/>
          <c:layout>
            <c:manualLayout>
              <c:x val="1.0643773784841161E-2"/>
              <c:y val="-0.30650050098328246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800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layout>
                <c:manualLayout>
                  <c:w val="4.5675878197471632E-2"/>
                  <c:h val="5.7895539595575057E-2"/>
                </c:manualLayout>
              </c15:layout>
            </c:ext>
          </c:extLst>
        </c:dLbl>
      </c:pivotFmt>
      <c:pivotFmt>
        <c:idx val="30"/>
        <c:spPr>
          <a:solidFill>
            <a:schemeClr val="accent6"/>
          </a:solidFill>
          <a:ln>
            <a:noFill/>
          </a:ln>
          <a:effectLst/>
          <a:sp3d>
            <a:contourClr>
              <a:schemeClr val="accent4">
                <a:shade val="15000"/>
              </a:schemeClr>
            </a:contourClr>
          </a:sp3d>
        </c:spPr>
        <c:dLbl>
          <c:idx val="0"/>
          <c:layout>
            <c:manualLayout>
              <c:x val="7.1147954566245621E-3"/>
              <c:y val="-0.161005922469490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800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1"/>
        <c:spPr>
          <a:solidFill>
            <a:schemeClr val="accent6"/>
          </a:solidFill>
          <a:ln>
            <a:noFill/>
          </a:ln>
          <a:effectLst/>
          <a:sp3d>
            <a:contourClr>
              <a:schemeClr val="accent4">
                <a:shade val="15000"/>
              </a:schemeClr>
            </a:contourClr>
          </a:sp3d>
        </c:spPr>
        <c:dLbl>
          <c:idx val="0"/>
          <c:layout>
            <c:manualLayout>
              <c:x val="5.329381664437232E-3"/>
              <c:y val="-0.12255463693188809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800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2"/>
        <c:spPr>
          <a:solidFill>
            <a:schemeClr val="accent6"/>
          </a:solidFill>
          <a:ln>
            <a:noFill/>
          </a:ln>
          <a:effectLst/>
          <a:sp3d>
            <a:contourClr>
              <a:schemeClr val="accent4">
                <a:shade val="15000"/>
              </a:schemeClr>
            </a:contourClr>
          </a:sp3d>
        </c:spPr>
        <c:dLbl>
          <c:idx val="0"/>
          <c:layout>
            <c:manualLayout>
              <c:x val="5.3444215704335999E-3"/>
              <c:y val="-0.2493489210299878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800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 w="9525" cap="flat" cmpd="sng" algn="ctr">
          <a:solidFill>
            <a:schemeClr val="accent3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 contourW="9525">
          <a:contourClr>
            <a:schemeClr val="accent3">
              <a:shade val="95000"/>
              <a:satMod val="105000"/>
            </a:schemeClr>
          </a:contourClr>
        </a:sp3d>
      </c:spPr>
    </c:sideWall>
    <c:backWall>
      <c:thickness val="0"/>
      <c:spPr>
        <a:noFill/>
        <a:ln w="9525" cap="flat" cmpd="sng" algn="ctr">
          <a:solidFill>
            <a:schemeClr val="accent3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 contourW="9525">
          <a:contourClr>
            <a:schemeClr val="accent3">
              <a:shade val="95000"/>
              <a:satMod val="105000"/>
            </a:schemeClr>
          </a:contourClr>
        </a:sp3d>
      </c:spPr>
    </c:backWall>
    <c:plotArea>
      <c:layout>
        <c:manualLayout>
          <c:layoutTarget val="inner"/>
          <c:xMode val="edge"/>
          <c:yMode val="edge"/>
          <c:x val="5.8464314556834235E-2"/>
          <c:y val="0.17151744653062376"/>
          <c:w val="0.9383305572380376"/>
          <c:h val="0.60636005138873572"/>
        </c:manualLayout>
      </c:layout>
      <c:bar3DChart>
        <c:barDir val="col"/>
        <c:grouping val="stacked"/>
        <c:varyColors val="0"/>
        <c:ser>
          <c:idx val="0"/>
          <c:order val="0"/>
          <c:tx>
            <c:strRef>
              <c:f>'patient demographics'!$B$19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  <a:sp3d>
              <a:contourClr>
                <a:schemeClr val="accent4">
                  <a:shade val="15000"/>
                </a:schemeClr>
              </a:contourClr>
            </a:sp3d>
          </c:spPr>
          <c:invertIfNegative val="0"/>
          <c:dPt>
            <c:idx val="0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  <a:sp3d>
                <a:contourClr>
                  <a:schemeClr val="accent4">
                    <a:shade val="15000"/>
                  </a:schemeClr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051C-49F0-BA3F-18F3062D6DC9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  <a:sp3d>
                <a:contourClr>
                  <a:schemeClr val="accent4">
                    <a:shade val="15000"/>
                  </a:schemeClr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051C-49F0-BA3F-18F3062D6DC9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  <a:sp3d>
                <a:contourClr>
                  <a:schemeClr val="accent4">
                    <a:shade val="15000"/>
                  </a:schemeClr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051C-49F0-BA3F-18F3062D6DC9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  <a:sp3d>
                <a:contourClr>
                  <a:schemeClr val="accent4">
                    <a:shade val="15000"/>
                  </a:schemeClr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051C-49F0-BA3F-18F3062D6DC9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  <a:sp3d>
                <a:contourClr>
                  <a:schemeClr val="accent4">
                    <a:shade val="15000"/>
                  </a:schemeClr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9-051C-49F0-BA3F-18F3062D6DC9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  <a:sp3d>
                <a:contourClr>
                  <a:schemeClr val="accent4">
                    <a:shade val="15000"/>
                  </a:schemeClr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B-051C-49F0-BA3F-18F3062D6DC9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  <a:sp3d>
                <a:contourClr>
                  <a:schemeClr val="accent4">
                    <a:shade val="15000"/>
                  </a:schemeClr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D-051C-49F0-BA3F-18F3062D6DC9}"/>
              </c:ext>
            </c:extLst>
          </c:dPt>
          <c:dPt>
            <c:idx val="7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  <a:sp3d>
                <a:contourClr>
                  <a:schemeClr val="accent4">
                    <a:shade val="15000"/>
                  </a:schemeClr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F-051C-49F0-BA3F-18F3062D6DC9}"/>
              </c:ext>
            </c:extLst>
          </c:dPt>
          <c:dPt>
            <c:idx val="8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  <a:sp3d>
                <a:contourClr>
                  <a:schemeClr val="accent4">
                    <a:shade val="15000"/>
                  </a:schemeClr>
                </a:contourClr>
              </a:sp3d>
            </c:spPr>
            <c:extLst>
              <c:ext xmlns:c16="http://schemas.microsoft.com/office/drawing/2014/chart" uri="{C3380CC4-5D6E-409C-BE32-E72D297353CC}">
                <c16:uniqueId val="{00000011-051C-49F0-BA3F-18F3062D6DC9}"/>
              </c:ext>
            </c:extLst>
          </c:dPt>
          <c:dPt>
            <c:idx val="9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  <a:sp3d>
                <a:contourClr>
                  <a:schemeClr val="accent4">
                    <a:shade val="15000"/>
                  </a:schemeClr>
                </a:contourClr>
              </a:sp3d>
            </c:spPr>
            <c:extLst>
              <c:ext xmlns:c16="http://schemas.microsoft.com/office/drawing/2014/chart" uri="{C3380CC4-5D6E-409C-BE32-E72D297353CC}">
                <c16:uniqueId val="{00000013-051C-49F0-BA3F-18F3062D6DC9}"/>
              </c:ext>
            </c:extLst>
          </c:dPt>
          <c:dLbls>
            <c:dLbl>
              <c:idx val="0"/>
              <c:layout>
                <c:manualLayout>
                  <c:x val="-1.0868413082980012E-2"/>
                  <c:y val="-0.3458903262092238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51C-49F0-BA3F-18F3062D6DC9}"/>
                </c:ext>
              </c:extLst>
            </c:dLbl>
            <c:dLbl>
              <c:idx val="1"/>
              <c:layout>
                <c:manualLayout>
                  <c:x val="9.2192862911366549E-3"/>
                  <c:y val="-0.30870884889388828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051C-49F0-BA3F-18F3062D6DC9}"/>
                </c:ext>
              </c:extLst>
            </c:dLbl>
            <c:dLbl>
              <c:idx val="2"/>
              <c:layout>
                <c:manualLayout>
                  <c:x val="9.0695033313143558E-3"/>
                  <c:y val="-0.30390194975628049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051C-49F0-BA3F-18F3062D6DC9}"/>
                </c:ext>
              </c:extLst>
            </c:dLbl>
            <c:dLbl>
              <c:idx val="3"/>
              <c:layout>
                <c:manualLayout>
                  <c:x val="8.0405814657783167E-3"/>
                  <c:y val="-0.27139688788901389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051C-49F0-BA3F-18F3062D6DC9}"/>
                </c:ext>
              </c:extLst>
            </c:dLbl>
            <c:dLbl>
              <c:idx val="4"/>
              <c:layout>
                <c:manualLayout>
                  <c:x val="1.9538663436301174E-2"/>
                  <c:y val="-0.2345946756655418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051C-49F0-BA3F-18F3062D6DC9}"/>
                </c:ext>
              </c:extLst>
            </c:dLbl>
            <c:dLbl>
              <c:idx val="5"/>
              <c:layout>
                <c:manualLayout>
                  <c:x val="1.1364829396325458E-2"/>
                  <c:y val="-0.2039999062617173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5.4733754278104708E-2"/>
                      <c:h val="7.962929210689445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B-051C-49F0-BA3F-18F3062D6DC9}"/>
                </c:ext>
              </c:extLst>
            </c:dLbl>
            <c:dLbl>
              <c:idx val="6"/>
              <c:layout>
                <c:manualLayout>
                  <c:x val="1.1445020694528569E-2"/>
                  <c:y val="-0.2160243719535058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2000" b="0" i="0" u="none" strike="noStrike" kern="1200" baseline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7.2919442761962439E-2"/>
                      <c:h val="7.694319460067491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D-051C-49F0-BA3F-18F3062D6DC9}"/>
                </c:ext>
              </c:extLst>
            </c:dLbl>
            <c:dLbl>
              <c:idx val="7"/>
              <c:layout>
                <c:manualLayout>
                  <c:x val="1.6730138300020066E-2"/>
                  <c:y val="-0.20123581291614334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5.7676282051282043E-2"/>
                      <c:h val="7.1767338273296621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F-051C-49F0-BA3F-18F3062D6DC9}"/>
                </c:ext>
              </c:extLst>
            </c:dLbl>
            <c:dLbl>
              <c:idx val="8"/>
              <c:layout>
                <c:manualLayout>
                  <c:x val="8.5344740561275993E-3"/>
                  <c:y val="-0.17715241715258911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051C-49F0-BA3F-18F3062D6DC9}"/>
                </c:ext>
              </c:extLst>
            </c:dLbl>
            <c:dLbl>
              <c:idx val="9"/>
              <c:layout>
                <c:manualLayout>
                  <c:x val="6.9469261053907898E-3"/>
                  <c:y val="-0.16125365579302586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051C-49F0-BA3F-18F3062D6DC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'patient demographics'!$A$20:$A$30</c:f>
              <c:strCache>
                <c:ptCount val="10"/>
                <c:pt idx="0">
                  <c:v>Hyderabad</c:v>
                </c:pt>
                <c:pt idx="1">
                  <c:v>Bengaluru</c:v>
                </c:pt>
                <c:pt idx="2">
                  <c:v>Chennai</c:v>
                </c:pt>
                <c:pt idx="3">
                  <c:v>Mumbai</c:v>
                </c:pt>
                <c:pt idx="4">
                  <c:v>Delhi</c:v>
                </c:pt>
                <c:pt idx="5">
                  <c:v>Pune</c:v>
                </c:pt>
                <c:pt idx="6">
                  <c:v>Kolkata</c:v>
                </c:pt>
                <c:pt idx="7">
                  <c:v>Ahmedabad</c:v>
                </c:pt>
                <c:pt idx="8">
                  <c:v>Jaipur</c:v>
                </c:pt>
                <c:pt idx="9">
                  <c:v>Visakhapatnam</c:v>
                </c:pt>
              </c:strCache>
            </c:strRef>
          </c:cat>
          <c:val>
            <c:numRef>
              <c:f>'patient demographics'!$B$20:$B$30</c:f>
              <c:numCache>
                <c:formatCode>0%</c:formatCode>
                <c:ptCount val="10"/>
                <c:pt idx="0">
                  <c:v>0.15240000000000001</c:v>
                </c:pt>
                <c:pt idx="1">
                  <c:v>0.1409</c:v>
                </c:pt>
                <c:pt idx="2">
                  <c:v>0.127</c:v>
                </c:pt>
                <c:pt idx="3">
                  <c:v>0.122</c:v>
                </c:pt>
                <c:pt idx="4">
                  <c:v>9.5100000000000004E-2</c:v>
                </c:pt>
                <c:pt idx="5">
                  <c:v>0.09</c:v>
                </c:pt>
                <c:pt idx="6">
                  <c:v>8.0500000000000002E-2</c:v>
                </c:pt>
                <c:pt idx="7">
                  <c:v>7.3899999999999993E-2</c:v>
                </c:pt>
                <c:pt idx="8">
                  <c:v>5.9499999999999997E-2</c:v>
                </c:pt>
                <c:pt idx="9">
                  <c:v>5.8700000000000002E-2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051C-49F0-BA3F-18F3062D6DC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box"/>
        <c:axId val="2030017103"/>
        <c:axId val="2030022863"/>
        <c:axId val="0"/>
      </c:bar3DChart>
      <c:catAx>
        <c:axId val="2030017103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30022863"/>
        <c:crosses val="autoZero"/>
        <c:auto val="1"/>
        <c:lblAlgn val="ctr"/>
        <c:lblOffset val="100"/>
        <c:noMultiLvlLbl val="0"/>
      </c:catAx>
      <c:valAx>
        <c:axId val="2030022863"/>
        <c:scaling>
          <c:orientation val="minMax"/>
        </c:scaling>
        <c:delete val="1"/>
        <c:axPos val="l"/>
        <c:numFmt formatCode="0%" sourceLinked="1"/>
        <c:majorTickMark val="out"/>
        <c:minorTickMark val="none"/>
        <c:tickLblPos val="nextTo"/>
        <c:crossAx val="2030017103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accent4">
        <a:lumMod val="60000"/>
        <a:lumOff val="40000"/>
      </a:schemeClr>
    </a:solidFill>
    <a:ln w="9525" cap="flat" cmpd="sng" algn="ctr">
      <a:solidFill>
        <a:schemeClr val="accent3">
          <a:shade val="95000"/>
          <a:satMod val="105000"/>
        </a:schemeClr>
      </a:solidFill>
      <a:prstDash val="solid"/>
      <a:round/>
    </a:ln>
    <a:effectLst>
      <a:outerShdw blurRad="40000" dist="20000" dir="5400000" rotWithShape="0">
        <a:srgbClr val="000000">
          <a:alpha val="38000"/>
        </a:srgbClr>
      </a:outerShdw>
    </a:effectLst>
  </c:spPr>
  <c:txPr>
    <a:bodyPr/>
    <a:lstStyle/>
    <a:p>
      <a:pPr>
        <a:defRPr>
          <a:solidFill>
            <a:schemeClr val="dk1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[Healthcare_Dashboard_Dataset_10000 (1).xlsx]patient demographics!PivotTable4</c:name>
    <c:fmtId val="3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1" i="0" u="none" strike="noStrike" kern="1200" spc="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r>
              <a:rPr lang="en-US" sz="2400" b="1"/>
              <a:t>Branch  Wise Patients</a:t>
            </a:r>
          </a:p>
        </c:rich>
      </c:tx>
      <c:layout>
        <c:manualLayout>
          <c:xMode val="edge"/>
          <c:yMode val="edge"/>
          <c:x val="0.21437777602480493"/>
          <c:y val="1.861396325720906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1" i="0" u="none" strike="noStrike" kern="1200" spc="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dLbl>
          <c:idx val="0"/>
          <c:layout>
            <c:manualLayout>
              <c:x val="6.1486870654049251E-2"/>
              <c:y val="7.6036407031264935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dLbl>
          <c:idx val="0"/>
          <c:layout>
            <c:manualLayout>
              <c:x val="-2.9686111256339208E-2"/>
              <c:y val="6.0780205285971368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dLbl>
          <c:idx val="0"/>
          <c:layout>
            <c:manualLayout>
              <c:x val="5.3717748470748158E-2"/>
              <c:y val="5.1946065911379194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dLbl>
          <c:idx val="0"/>
          <c:layout>
            <c:manualLayout>
              <c:x val="4.1543365031624001E-2"/>
              <c:y val="5.6746936140333508E-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layout>
                <c:manualLayout>
                  <c:w val="0.1276093597487909"/>
                  <c:h val="7.9565562658318725E-2"/>
                </c:manualLayout>
              </c15:layout>
            </c:ext>
          </c:extLst>
        </c:dLbl>
      </c:pivotFmt>
      <c:pivotFmt>
        <c:idx val="5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dLbl>
          <c:idx val="0"/>
          <c:layout>
            <c:manualLayout>
              <c:x val="6.1486870654049251E-2"/>
              <c:y val="7.6036407031264935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dLbl>
          <c:idx val="0"/>
          <c:layout>
            <c:manualLayout>
              <c:x val="-2.9686111256339208E-2"/>
              <c:y val="6.0780205285971368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dLbl>
          <c:idx val="0"/>
          <c:layout>
            <c:manualLayout>
              <c:x val="5.3717748470748158E-2"/>
              <c:y val="5.1946065911379194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dLbl>
          <c:idx val="0"/>
          <c:layout>
            <c:manualLayout>
              <c:x val="4.1543365031624001E-2"/>
              <c:y val="5.6746936140333508E-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layout>
                <c:manualLayout>
                  <c:w val="0.1276093597487909"/>
                  <c:h val="7.9565562658318725E-2"/>
                </c:manualLayout>
              </c15:layout>
            </c:ext>
          </c:extLst>
        </c:dLbl>
      </c:pivotFmt>
      <c:pivotFmt>
        <c:idx val="10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dLbl>
          <c:idx val="0"/>
          <c:layout>
            <c:manualLayout>
              <c:x val="6.1486870654049251E-2"/>
              <c:y val="7.6036407031264935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dLbl>
          <c:idx val="0"/>
          <c:layout>
            <c:manualLayout>
              <c:x val="-2.9686111256339208E-2"/>
              <c:y val="6.0780205285971368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dLbl>
          <c:idx val="0"/>
          <c:layout>
            <c:manualLayout>
              <c:x val="5.3717748470748158E-2"/>
              <c:y val="5.1946065911379194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dLbl>
          <c:idx val="0"/>
          <c:layout>
            <c:manualLayout>
              <c:x val="4.1543365031624001E-2"/>
              <c:y val="5.6746936140333508E-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layout>
                <c:manualLayout>
                  <c:w val="0.1276093597487909"/>
                  <c:h val="7.9565562658318725E-2"/>
                </c:manualLayout>
              </c15:layout>
            </c:ext>
          </c:extLst>
        </c:dLbl>
      </c:pivotFmt>
    </c:pivotFmts>
    <c:view3D>
      <c:rotX val="75"/>
      <c:rotY val="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6.7128672816976973E-2"/>
          <c:y val="0.1468047353455818"/>
          <c:w val="0.50967616723965847"/>
          <c:h val="0.7906952646544182"/>
        </c:manualLayout>
      </c:layout>
      <c:pie3DChart>
        <c:varyColors val="1"/>
        <c:ser>
          <c:idx val="0"/>
          <c:order val="0"/>
          <c:tx>
            <c:strRef>
              <c:f>'patient demographics'!$B$33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8646-4C63-A395-885565A5B36D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8646-4C63-A395-885565A5B36D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8646-4C63-A395-885565A5B36D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8646-4C63-A395-885565A5B36D}"/>
              </c:ext>
            </c:extLst>
          </c:dPt>
          <c:dLbls>
            <c:dLbl>
              <c:idx val="0"/>
              <c:layout>
                <c:manualLayout>
                  <c:x val="6.1486870654049251E-2"/>
                  <c:y val="7.6036407031264935E-2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646-4C63-A395-885565A5B36D}"/>
                </c:ext>
              </c:extLst>
            </c:dLbl>
            <c:dLbl>
              <c:idx val="1"/>
              <c:layout>
                <c:manualLayout>
                  <c:x val="-2.9686111256339208E-2"/>
                  <c:y val="6.0780205285971368E-2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646-4C63-A395-885565A5B36D}"/>
                </c:ext>
              </c:extLst>
            </c:dLbl>
            <c:dLbl>
              <c:idx val="2"/>
              <c:layout>
                <c:manualLayout>
                  <c:x val="5.3717748470748158E-2"/>
                  <c:y val="5.1946065911379194E-2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8646-4C63-A395-885565A5B36D}"/>
                </c:ext>
              </c:extLst>
            </c:dLbl>
            <c:dLbl>
              <c:idx val="3"/>
              <c:layout>
                <c:manualLayout>
                  <c:x val="4.1543365031624001E-2"/>
                  <c:y val="5.6746936140333508E-3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276093597487909"/>
                      <c:h val="7.956556265831872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7-8646-4C63-A395-885565A5B36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'patient demographics'!$A$34:$A$38</c:f>
              <c:strCache>
                <c:ptCount val="4"/>
                <c:pt idx="0">
                  <c:v>Branch A</c:v>
                </c:pt>
                <c:pt idx="1">
                  <c:v>Branch B</c:v>
                </c:pt>
                <c:pt idx="2">
                  <c:v>Branch C</c:v>
                </c:pt>
                <c:pt idx="3">
                  <c:v>Branch D</c:v>
                </c:pt>
              </c:strCache>
            </c:strRef>
          </c:cat>
          <c:val>
            <c:numRef>
              <c:f>'patient demographics'!$B$34:$B$38</c:f>
              <c:numCache>
                <c:formatCode>0%</c:formatCode>
                <c:ptCount val="4"/>
                <c:pt idx="0">
                  <c:v>0.25559999999999999</c:v>
                </c:pt>
                <c:pt idx="1">
                  <c:v>0.249</c:v>
                </c:pt>
                <c:pt idx="2">
                  <c:v>0.24310000000000001</c:v>
                </c:pt>
                <c:pt idx="3">
                  <c:v>0.25230000000000002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646-4C63-A395-885565A5B3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accent4">
        <a:lumMod val="60000"/>
        <a:lumOff val="40000"/>
      </a:schemeClr>
    </a:solidFill>
    <a:ln w="9525" cap="flat" cmpd="sng" algn="ctr">
      <a:solidFill>
        <a:schemeClr val="accent3">
          <a:shade val="95000"/>
          <a:satMod val="105000"/>
        </a:schemeClr>
      </a:solidFill>
      <a:prstDash val="solid"/>
      <a:round/>
    </a:ln>
    <a:effectLst>
      <a:outerShdw blurRad="40000" dist="20000" dir="5400000" rotWithShape="0">
        <a:srgbClr val="000000">
          <a:alpha val="38000"/>
        </a:srgbClr>
      </a:outerShdw>
    </a:effectLst>
  </c:spPr>
  <c:txPr>
    <a:bodyPr/>
    <a:lstStyle/>
    <a:p>
      <a:pPr>
        <a:defRPr>
          <a:solidFill>
            <a:schemeClr val="dk1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[Healthcare_Dashboard_Dataset_10000 (1).xlsx]patient demographics!PivotTable6</c:name>
    <c:fmtId val="1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1" i="0" u="none" strike="noStrike" kern="1200" spc="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r>
              <a:rPr lang="en-US" sz="2400" b="1"/>
              <a:t>Admission Type With Age Group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1" i="0" u="none" strike="noStrike" kern="1200" spc="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9525" cap="flat" cmpd="sng" algn="ctr">
            <a:solidFill>
              <a:schemeClr val="accent6">
                <a:shade val="95000"/>
                <a:satMod val="105000"/>
              </a:schemeClr>
            </a:solidFill>
            <a:prstDash val="solid"/>
            <a:rou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c:spPr>
        <c:marker>
          <c:symbol val="circle"/>
          <c:size val="5"/>
          <c:spPr>
            <a:gradFill rotWithShape="1">
              <a:gsLst>
                <a:gs pos="0">
                  <a:schemeClr val="accent6">
                    <a:shade val="51000"/>
                    <a:satMod val="130000"/>
                  </a:schemeClr>
                </a:gs>
                <a:gs pos="80000">
                  <a:schemeClr val="accent6">
                    <a:shade val="93000"/>
                    <a:satMod val="130000"/>
                  </a:schemeClr>
                </a:gs>
                <a:gs pos="100000">
                  <a:schemeClr val="accent6">
                    <a:shade val="94000"/>
                    <a:satMod val="135000"/>
                  </a:schemeClr>
                </a:gs>
              </a:gsLst>
              <a:lin ang="16200000" scaled="0"/>
            </a:gradFill>
            <a:ln w="9525" cap="flat" cmpd="sng" algn="ctr">
              <a:solidFill>
                <a:schemeClr val="accent6">
                  <a:shade val="95000"/>
                  <a:satMod val="105000"/>
                </a:scheme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600" b="1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5400" cap="flat" cmpd="sng" algn="ctr">
            <a:solidFill>
              <a:schemeClr val="accent3">
                <a:shade val="15000"/>
              </a:schemeClr>
            </a:solidFill>
            <a:prstDash val="solid"/>
            <a:round/>
          </a:ln>
          <a:effectLst/>
        </c:spPr>
        <c:marker>
          <c:symbol val="circle"/>
          <c:size val="5"/>
          <c:spPr>
            <a:solidFill>
              <a:schemeClr val="accent3"/>
            </a:solidFill>
            <a:ln w="25400" cap="flat" cmpd="sng" algn="ctr">
              <a:solidFill>
                <a:schemeClr val="accent3">
                  <a:shade val="15000"/>
                </a:schemeClr>
              </a:solidFill>
              <a:prstDash val="solid"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5400" cap="flat" cmpd="sng" algn="ctr">
            <a:solidFill>
              <a:schemeClr val="accent4">
                <a:shade val="15000"/>
              </a:schemeClr>
            </a:solidFill>
            <a:prstDash val="solid"/>
            <a:round/>
          </a:ln>
          <a:effectLst/>
        </c:spPr>
        <c:marker>
          <c:symbol val="circle"/>
          <c:size val="5"/>
          <c:spPr>
            <a:solidFill>
              <a:schemeClr val="accent4"/>
            </a:solidFill>
            <a:ln w="25400" cap="flat" cmpd="sng" algn="ctr">
              <a:solidFill>
                <a:schemeClr val="accent4">
                  <a:shade val="15000"/>
                </a:schemeClr>
              </a:solidFill>
              <a:prstDash val="solid"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9525" cap="flat" cmpd="sng" algn="ctr">
            <a:solidFill>
              <a:schemeClr val="accent6">
                <a:shade val="95000"/>
                <a:satMod val="105000"/>
              </a:schemeClr>
            </a:solidFill>
            <a:prstDash val="solid"/>
            <a:rou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c:spPr>
        <c:marker>
          <c:symbol val="circle"/>
          <c:size val="5"/>
          <c:spPr>
            <a:gradFill rotWithShape="1">
              <a:gsLst>
                <a:gs pos="0">
                  <a:schemeClr val="accent6">
                    <a:shade val="51000"/>
                    <a:satMod val="130000"/>
                  </a:schemeClr>
                </a:gs>
                <a:gs pos="80000">
                  <a:schemeClr val="accent6">
                    <a:shade val="93000"/>
                    <a:satMod val="130000"/>
                  </a:schemeClr>
                </a:gs>
                <a:gs pos="100000">
                  <a:schemeClr val="accent6">
                    <a:shade val="94000"/>
                    <a:satMod val="135000"/>
                  </a:schemeClr>
                </a:gs>
              </a:gsLst>
              <a:lin ang="16200000" scaled="0"/>
            </a:gradFill>
            <a:ln w="9525" cap="flat" cmpd="sng" algn="ctr">
              <a:solidFill>
                <a:schemeClr val="accent6">
                  <a:shade val="95000"/>
                  <a:satMod val="105000"/>
                </a:scheme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</c:marker>
        <c:dLbl>
          <c:idx val="0"/>
          <c:layout>
            <c:manualLayout>
              <c:x val="-3.7232020630902127E-2"/>
              <c:y val="3.6940987417943189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600" b="1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9525" cap="flat" cmpd="sng" algn="ctr">
            <a:solidFill>
              <a:schemeClr val="accent6">
                <a:shade val="95000"/>
                <a:satMod val="105000"/>
              </a:schemeClr>
            </a:solidFill>
            <a:prstDash val="solid"/>
            <a:rou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c:spPr>
        <c:marker>
          <c:symbol val="circle"/>
          <c:size val="5"/>
          <c:spPr>
            <a:gradFill rotWithShape="1">
              <a:gsLst>
                <a:gs pos="0">
                  <a:schemeClr val="accent6">
                    <a:shade val="51000"/>
                    <a:satMod val="130000"/>
                  </a:schemeClr>
                </a:gs>
                <a:gs pos="80000">
                  <a:schemeClr val="accent6">
                    <a:shade val="93000"/>
                    <a:satMod val="130000"/>
                  </a:schemeClr>
                </a:gs>
                <a:gs pos="100000">
                  <a:schemeClr val="accent6">
                    <a:shade val="94000"/>
                    <a:satMod val="135000"/>
                  </a:schemeClr>
                </a:gs>
              </a:gsLst>
              <a:lin ang="16200000" scaled="0"/>
            </a:gradFill>
            <a:ln w="9525" cap="flat" cmpd="sng" algn="ctr">
              <a:solidFill>
                <a:schemeClr val="accent6">
                  <a:shade val="95000"/>
                  <a:satMod val="105000"/>
                </a:scheme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</c:marker>
        <c:dLbl>
          <c:idx val="0"/>
          <c:layout>
            <c:manualLayout>
              <c:x val="-3.7231942074042949E-2"/>
              <c:y val="-7.2635440733932785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600" b="1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9525" cap="flat" cmpd="sng" algn="ctr">
            <a:solidFill>
              <a:schemeClr val="accent6">
                <a:shade val="95000"/>
                <a:satMod val="105000"/>
              </a:schemeClr>
            </a:solidFill>
            <a:prstDash val="solid"/>
            <a:rou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c:spPr>
        <c:marker>
          <c:symbol val="circle"/>
          <c:size val="5"/>
          <c:spPr>
            <a:gradFill rotWithShape="1">
              <a:gsLst>
                <a:gs pos="0">
                  <a:schemeClr val="accent6">
                    <a:shade val="51000"/>
                    <a:satMod val="130000"/>
                  </a:schemeClr>
                </a:gs>
                <a:gs pos="80000">
                  <a:schemeClr val="accent6">
                    <a:shade val="93000"/>
                    <a:satMod val="130000"/>
                  </a:schemeClr>
                </a:gs>
                <a:gs pos="100000">
                  <a:schemeClr val="accent6">
                    <a:shade val="94000"/>
                    <a:satMod val="135000"/>
                  </a:schemeClr>
                </a:gs>
              </a:gsLst>
              <a:lin ang="16200000" scaled="0"/>
            </a:gradFill>
            <a:ln w="9525" cap="flat" cmpd="sng" algn="ctr">
              <a:solidFill>
                <a:schemeClr val="accent6">
                  <a:shade val="95000"/>
                  <a:satMod val="105000"/>
                </a:scheme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</c:marker>
        <c:dLbl>
          <c:idx val="0"/>
          <c:layout>
            <c:manualLayout>
              <c:x val="-3.7232020630902155E-2"/>
              <c:y val="1.5230101203501174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600" b="1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9525" cap="flat" cmpd="sng" algn="ctr">
            <a:solidFill>
              <a:schemeClr val="accent6">
                <a:shade val="95000"/>
                <a:satMod val="105000"/>
              </a:schemeClr>
            </a:solidFill>
            <a:prstDash val="solid"/>
            <a:rou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c:spPr>
        <c:marker>
          <c:symbol val="circle"/>
          <c:size val="5"/>
          <c:spPr>
            <a:gradFill rotWithShape="1">
              <a:gsLst>
                <a:gs pos="0">
                  <a:schemeClr val="accent6">
                    <a:shade val="51000"/>
                    <a:satMod val="130000"/>
                  </a:schemeClr>
                </a:gs>
                <a:gs pos="80000">
                  <a:schemeClr val="accent6">
                    <a:shade val="93000"/>
                    <a:satMod val="130000"/>
                  </a:schemeClr>
                </a:gs>
                <a:gs pos="100000">
                  <a:schemeClr val="accent6">
                    <a:shade val="94000"/>
                    <a:satMod val="135000"/>
                  </a:schemeClr>
                </a:gs>
              </a:gsLst>
              <a:lin ang="16200000" scaled="0"/>
            </a:gradFill>
            <a:ln w="9525" cap="flat" cmpd="sng" algn="ctr">
              <a:solidFill>
                <a:schemeClr val="accent6">
                  <a:shade val="95000"/>
                  <a:satMod val="105000"/>
                </a:scheme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</c:marker>
        <c:dLbl>
          <c:idx val="0"/>
          <c:layout>
            <c:manualLayout>
              <c:x val="-3.7232020630902155E-2"/>
              <c:y val="1.5230101203501174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600" b="1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5400" cap="flat" cmpd="sng" algn="ctr">
            <a:solidFill>
              <a:schemeClr val="accent3">
                <a:shade val="15000"/>
              </a:schemeClr>
            </a:solidFill>
            <a:prstDash val="solid"/>
            <a:round/>
          </a:ln>
          <a:effectLst/>
        </c:spPr>
        <c:marker>
          <c:symbol val="circle"/>
          <c:size val="5"/>
        </c:marker>
        <c:dLbl>
          <c:idx val="0"/>
          <c:layout>
            <c:manualLayout>
              <c:x val="-8.0920180432482211E-2"/>
              <c:y val="-4.5560380196936541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9525" cap="flat" cmpd="sng" algn="ctr">
            <a:solidFill>
              <a:schemeClr val="accent6">
                <a:shade val="95000"/>
                <a:satMod val="105000"/>
              </a:schemeClr>
            </a:solidFill>
            <a:prstDash val="solid"/>
            <a:rou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c:spPr>
        <c:marker>
          <c:symbol val="circle"/>
          <c:size val="5"/>
          <c:spPr>
            <a:gradFill rotWithShape="1">
              <a:gsLst>
                <a:gs pos="0">
                  <a:schemeClr val="accent6">
                    <a:shade val="51000"/>
                    <a:satMod val="130000"/>
                  </a:schemeClr>
                </a:gs>
                <a:gs pos="80000">
                  <a:schemeClr val="accent6">
                    <a:shade val="93000"/>
                    <a:satMod val="130000"/>
                  </a:schemeClr>
                </a:gs>
                <a:gs pos="100000">
                  <a:schemeClr val="accent6">
                    <a:shade val="94000"/>
                    <a:satMod val="135000"/>
                  </a:schemeClr>
                </a:gs>
              </a:gsLst>
              <a:lin ang="16200000" scaled="0"/>
            </a:gradFill>
            <a:ln w="9525" cap="flat" cmpd="sng" algn="ctr">
              <a:solidFill>
                <a:schemeClr val="accent6">
                  <a:shade val="95000"/>
                  <a:satMod val="105000"/>
                </a:scheme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</c:marker>
        <c:dLbl>
          <c:idx val="0"/>
          <c:layout>
            <c:manualLayout>
              <c:x val="-4.6940500586808903E-2"/>
              <c:y val="2.391445568927782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600" b="1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</c:pivotFmt>
      <c:pivotFmt>
        <c:idx val="10"/>
      </c:pivotFmt>
      <c:pivotFmt>
        <c:idx val="1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 w="9525" cap="flat" cmpd="sng" algn="ctr">
            <a:solidFill>
              <a:schemeClr val="accent6">
                <a:shade val="95000"/>
                <a:satMod val="105000"/>
              </a:schemeClr>
            </a:solidFill>
            <a:prstDash val="solid"/>
            <a:rou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c:spPr>
        <c:marker>
          <c:symbol val="circle"/>
          <c:size val="5"/>
          <c:spPr>
            <a:gradFill rotWithShape="1">
              <a:gsLst>
                <a:gs pos="0">
                  <a:schemeClr val="accent6">
                    <a:shade val="51000"/>
                    <a:satMod val="130000"/>
                  </a:schemeClr>
                </a:gs>
                <a:gs pos="80000">
                  <a:schemeClr val="accent6">
                    <a:shade val="93000"/>
                    <a:satMod val="130000"/>
                  </a:schemeClr>
                </a:gs>
                <a:gs pos="100000">
                  <a:schemeClr val="accent6">
                    <a:shade val="94000"/>
                    <a:satMod val="135000"/>
                  </a:schemeClr>
                </a:gs>
              </a:gsLst>
              <a:lin ang="16200000" scaled="0"/>
            </a:gradFill>
            <a:ln w="9525" cap="flat" cmpd="sng" algn="ctr">
              <a:solidFill>
                <a:schemeClr val="accent6">
                  <a:shade val="95000"/>
                  <a:satMod val="105000"/>
                </a:scheme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600" b="1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 w="9525" cap="flat" cmpd="sng" algn="ctr">
            <a:solidFill>
              <a:schemeClr val="accent6">
                <a:shade val="95000"/>
                <a:satMod val="105000"/>
              </a:schemeClr>
            </a:solidFill>
            <a:prstDash val="solid"/>
            <a:rou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c:spPr>
        <c:marker>
          <c:symbol val="circle"/>
          <c:size val="5"/>
          <c:spPr>
            <a:gradFill rotWithShape="1">
              <a:gsLst>
                <a:gs pos="0">
                  <a:schemeClr val="accent6">
                    <a:shade val="51000"/>
                    <a:satMod val="130000"/>
                  </a:schemeClr>
                </a:gs>
                <a:gs pos="80000">
                  <a:schemeClr val="accent6">
                    <a:shade val="93000"/>
                    <a:satMod val="130000"/>
                  </a:schemeClr>
                </a:gs>
                <a:gs pos="100000">
                  <a:schemeClr val="accent6">
                    <a:shade val="94000"/>
                    <a:satMod val="135000"/>
                  </a:schemeClr>
                </a:gs>
              </a:gsLst>
              <a:lin ang="16200000" scaled="0"/>
            </a:gradFill>
            <a:ln w="9525" cap="flat" cmpd="sng" algn="ctr">
              <a:solidFill>
                <a:schemeClr val="accent6">
                  <a:shade val="95000"/>
                  <a:satMod val="105000"/>
                </a:scheme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</c:marker>
        <c:dLbl>
          <c:idx val="0"/>
          <c:layout>
            <c:manualLayout>
              <c:x val="-3.7232020630902155E-2"/>
              <c:y val="1.5230101203501174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600" b="1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 w="9525" cap="flat" cmpd="sng" algn="ctr">
            <a:solidFill>
              <a:schemeClr val="accent6">
                <a:shade val="95000"/>
                <a:satMod val="105000"/>
              </a:schemeClr>
            </a:solidFill>
            <a:prstDash val="solid"/>
            <a:rou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c:spPr>
        <c:marker>
          <c:symbol val="circle"/>
          <c:size val="5"/>
          <c:spPr>
            <a:gradFill rotWithShape="1">
              <a:gsLst>
                <a:gs pos="0">
                  <a:schemeClr val="accent6">
                    <a:shade val="51000"/>
                    <a:satMod val="130000"/>
                  </a:schemeClr>
                </a:gs>
                <a:gs pos="80000">
                  <a:schemeClr val="accent6">
                    <a:shade val="93000"/>
                    <a:satMod val="130000"/>
                  </a:schemeClr>
                </a:gs>
                <a:gs pos="100000">
                  <a:schemeClr val="accent6">
                    <a:shade val="94000"/>
                    <a:satMod val="135000"/>
                  </a:schemeClr>
                </a:gs>
              </a:gsLst>
              <a:lin ang="16200000" scaled="0"/>
            </a:gradFill>
            <a:ln w="9525" cap="flat" cmpd="sng" algn="ctr">
              <a:solidFill>
                <a:schemeClr val="accent6">
                  <a:shade val="95000"/>
                  <a:satMod val="105000"/>
                </a:scheme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</c:marker>
        <c:dLbl>
          <c:idx val="0"/>
          <c:layout>
            <c:manualLayout>
              <c:x val="-3.7231942074042949E-2"/>
              <c:y val="-7.2635440733932785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600" b="1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 w="9525" cap="flat" cmpd="sng" algn="ctr">
            <a:solidFill>
              <a:schemeClr val="accent6">
                <a:shade val="95000"/>
                <a:satMod val="105000"/>
              </a:schemeClr>
            </a:solidFill>
            <a:prstDash val="solid"/>
            <a:rou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c:spPr>
        <c:marker>
          <c:symbol val="circle"/>
          <c:size val="5"/>
          <c:spPr>
            <a:gradFill rotWithShape="1">
              <a:gsLst>
                <a:gs pos="0">
                  <a:schemeClr val="accent6">
                    <a:shade val="51000"/>
                    <a:satMod val="130000"/>
                  </a:schemeClr>
                </a:gs>
                <a:gs pos="80000">
                  <a:schemeClr val="accent6">
                    <a:shade val="93000"/>
                    <a:satMod val="130000"/>
                  </a:schemeClr>
                </a:gs>
                <a:gs pos="100000">
                  <a:schemeClr val="accent6">
                    <a:shade val="94000"/>
                    <a:satMod val="135000"/>
                  </a:schemeClr>
                </a:gs>
              </a:gsLst>
              <a:lin ang="16200000" scaled="0"/>
            </a:gradFill>
            <a:ln w="9525" cap="flat" cmpd="sng" algn="ctr">
              <a:solidFill>
                <a:schemeClr val="accent6">
                  <a:shade val="95000"/>
                  <a:satMod val="105000"/>
                </a:scheme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</c:marker>
        <c:dLbl>
          <c:idx val="0"/>
          <c:layout>
            <c:manualLayout>
              <c:x val="-3.7232020630902127E-2"/>
              <c:y val="3.6940987417943189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600" b="1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 w="9525" cap="flat" cmpd="sng" algn="ctr">
            <a:solidFill>
              <a:schemeClr val="accent6">
                <a:shade val="95000"/>
                <a:satMod val="105000"/>
              </a:schemeClr>
            </a:solidFill>
            <a:prstDash val="solid"/>
            <a:rou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c:spPr>
        <c:marker>
          <c:symbol val="circle"/>
          <c:size val="5"/>
          <c:spPr>
            <a:gradFill rotWithShape="1">
              <a:gsLst>
                <a:gs pos="0">
                  <a:schemeClr val="accent6">
                    <a:shade val="51000"/>
                    <a:satMod val="130000"/>
                  </a:schemeClr>
                </a:gs>
                <a:gs pos="80000">
                  <a:schemeClr val="accent6">
                    <a:shade val="93000"/>
                    <a:satMod val="130000"/>
                  </a:schemeClr>
                </a:gs>
                <a:gs pos="100000">
                  <a:schemeClr val="accent6">
                    <a:shade val="94000"/>
                    <a:satMod val="135000"/>
                  </a:schemeClr>
                </a:gs>
              </a:gsLst>
              <a:lin ang="16200000" scaled="0"/>
            </a:gradFill>
            <a:ln w="9525" cap="flat" cmpd="sng" algn="ctr">
              <a:solidFill>
                <a:schemeClr val="accent6">
                  <a:shade val="95000"/>
                  <a:satMod val="105000"/>
                </a:scheme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</c:marker>
        <c:dLbl>
          <c:idx val="0"/>
          <c:layout>
            <c:manualLayout>
              <c:x val="-4.6940500586808903E-2"/>
              <c:y val="2.391445568927782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600" b="1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 w="9525" cap="flat" cmpd="sng" algn="ctr">
            <a:solidFill>
              <a:schemeClr val="accent6">
                <a:shade val="95000"/>
                <a:satMod val="105000"/>
              </a:schemeClr>
            </a:solidFill>
            <a:prstDash val="solid"/>
            <a:rou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c:spPr>
        <c:marker>
          <c:symbol val="circle"/>
          <c:size val="5"/>
          <c:spPr>
            <a:gradFill rotWithShape="1">
              <a:gsLst>
                <a:gs pos="0">
                  <a:schemeClr val="accent6">
                    <a:shade val="51000"/>
                    <a:satMod val="130000"/>
                  </a:schemeClr>
                </a:gs>
                <a:gs pos="80000">
                  <a:schemeClr val="accent6">
                    <a:shade val="93000"/>
                    <a:satMod val="130000"/>
                  </a:schemeClr>
                </a:gs>
                <a:gs pos="100000">
                  <a:schemeClr val="accent6">
                    <a:shade val="94000"/>
                    <a:satMod val="135000"/>
                  </a:schemeClr>
                </a:gs>
              </a:gsLst>
              <a:lin ang="16200000" scaled="0"/>
            </a:gradFill>
            <a:ln w="9525" cap="flat" cmpd="sng" algn="ctr">
              <a:solidFill>
                <a:schemeClr val="accent6">
                  <a:shade val="95000"/>
                  <a:satMod val="105000"/>
                </a:scheme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</c:marker>
        <c:dLbl>
          <c:idx val="0"/>
          <c:layout>
            <c:manualLayout>
              <c:x val="-3.7232020630902155E-2"/>
              <c:y val="1.5230101203501174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600" b="1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 w="9525" cap="flat" cmpd="sng" algn="ctr">
            <a:solidFill>
              <a:schemeClr val="accent6">
                <a:shade val="95000"/>
                <a:satMod val="105000"/>
              </a:schemeClr>
            </a:solidFill>
            <a:prstDash val="solid"/>
            <a:rou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c:spPr>
        <c:marker>
          <c:symbol val="circle"/>
          <c:size val="5"/>
          <c:spPr>
            <a:gradFill rotWithShape="1">
              <a:gsLst>
                <a:gs pos="0">
                  <a:schemeClr val="accent6">
                    <a:shade val="51000"/>
                    <a:satMod val="130000"/>
                  </a:schemeClr>
                </a:gs>
                <a:gs pos="80000">
                  <a:schemeClr val="accent6">
                    <a:shade val="93000"/>
                    <a:satMod val="130000"/>
                  </a:schemeClr>
                </a:gs>
                <a:gs pos="100000">
                  <a:schemeClr val="accent6">
                    <a:shade val="94000"/>
                    <a:satMod val="135000"/>
                  </a:schemeClr>
                </a:gs>
              </a:gsLst>
              <a:lin ang="16200000" scaled="0"/>
            </a:gradFill>
            <a:ln w="9525" cap="flat" cmpd="sng" algn="ctr">
              <a:solidFill>
                <a:schemeClr val="accent6">
                  <a:shade val="95000"/>
                  <a:satMod val="105000"/>
                </a:scheme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600" b="1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 w="9525" cap="flat" cmpd="sng" algn="ctr">
            <a:solidFill>
              <a:schemeClr val="accent6">
                <a:shade val="95000"/>
                <a:satMod val="105000"/>
              </a:schemeClr>
            </a:solidFill>
            <a:prstDash val="solid"/>
            <a:rou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c:spPr>
        <c:marker>
          <c:symbol val="circle"/>
          <c:size val="5"/>
          <c:spPr>
            <a:gradFill rotWithShape="1">
              <a:gsLst>
                <a:gs pos="0">
                  <a:schemeClr val="accent6">
                    <a:shade val="51000"/>
                    <a:satMod val="130000"/>
                  </a:schemeClr>
                </a:gs>
                <a:gs pos="80000">
                  <a:schemeClr val="accent6">
                    <a:shade val="93000"/>
                    <a:satMod val="130000"/>
                  </a:schemeClr>
                </a:gs>
                <a:gs pos="100000">
                  <a:schemeClr val="accent6">
                    <a:shade val="94000"/>
                    <a:satMod val="135000"/>
                  </a:schemeClr>
                </a:gs>
              </a:gsLst>
              <a:lin ang="16200000" scaled="0"/>
            </a:gradFill>
            <a:ln w="9525" cap="flat" cmpd="sng" algn="ctr">
              <a:solidFill>
                <a:schemeClr val="accent6">
                  <a:shade val="95000"/>
                  <a:satMod val="105000"/>
                </a:scheme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</c:marker>
        <c:dLbl>
          <c:idx val="0"/>
          <c:layout>
            <c:manualLayout>
              <c:x val="-3.7232020630902155E-2"/>
              <c:y val="1.5230101203501174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600" b="1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1"/>
          </a:solidFill>
          <a:ln w="9525" cap="flat" cmpd="sng" algn="ctr">
            <a:solidFill>
              <a:schemeClr val="accent6">
                <a:shade val="95000"/>
                <a:satMod val="105000"/>
              </a:schemeClr>
            </a:solidFill>
            <a:prstDash val="solid"/>
            <a:rou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c:spPr>
        <c:marker>
          <c:symbol val="circle"/>
          <c:size val="5"/>
          <c:spPr>
            <a:gradFill rotWithShape="1">
              <a:gsLst>
                <a:gs pos="0">
                  <a:schemeClr val="accent6">
                    <a:shade val="51000"/>
                    <a:satMod val="130000"/>
                  </a:schemeClr>
                </a:gs>
                <a:gs pos="80000">
                  <a:schemeClr val="accent6">
                    <a:shade val="93000"/>
                    <a:satMod val="130000"/>
                  </a:schemeClr>
                </a:gs>
                <a:gs pos="100000">
                  <a:schemeClr val="accent6">
                    <a:shade val="94000"/>
                    <a:satMod val="135000"/>
                  </a:schemeClr>
                </a:gs>
              </a:gsLst>
              <a:lin ang="16200000" scaled="0"/>
            </a:gradFill>
            <a:ln w="9525" cap="flat" cmpd="sng" algn="ctr">
              <a:solidFill>
                <a:schemeClr val="accent6">
                  <a:shade val="95000"/>
                  <a:satMod val="105000"/>
                </a:scheme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</c:marker>
        <c:dLbl>
          <c:idx val="0"/>
          <c:layout>
            <c:manualLayout>
              <c:x val="-3.7231942074042949E-2"/>
              <c:y val="-7.2635440733932785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600" b="1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1"/>
          </a:solidFill>
          <a:ln w="9525" cap="flat" cmpd="sng" algn="ctr">
            <a:solidFill>
              <a:schemeClr val="accent6">
                <a:shade val="95000"/>
                <a:satMod val="105000"/>
              </a:schemeClr>
            </a:solidFill>
            <a:prstDash val="solid"/>
            <a:rou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c:spPr>
        <c:marker>
          <c:symbol val="circle"/>
          <c:size val="5"/>
          <c:spPr>
            <a:gradFill rotWithShape="1">
              <a:gsLst>
                <a:gs pos="0">
                  <a:schemeClr val="accent6">
                    <a:shade val="51000"/>
                    <a:satMod val="130000"/>
                  </a:schemeClr>
                </a:gs>
                <a:gs pos="80000">
                  <a:schemeClr val="accent6">
                    <a:shade val="93000"/>
                    <a:satMod val="130000"/>
                  </a:schemeClr>
                </a:gs>
                <a:gs pos="100000">
                  <a:schemeClr val="accent6">
                    <a:shade val="94000"/>
                    <a:satMod val="135000"/>
                  </a:schemeClr>
                </a:gs>
              </a:gsLst>
              <a:lin ang="16200000" scaled="0"/>
            </a:gradFill>
            <a:ln w="9525" cap="flat" cmpd="sng" algn="ctr">
              <a:solidFill>
                <a:schemeClr val="accent6">
                  <a:shade val="95000"/>
                  <a:satMod val="105000"/>
                </a:scheme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</c:marker>
        <c:dLbl>
          <c:idx val="0"/>
          <c:layout>
            <c:manualLayout>
              <c:x val="-3.7232020630902127E-2"/>
              <c:y val="3.6940987417943189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600" b="1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solidFill>
            <a:schemeClr val="accent1"/>
          </a:solidFill>
          <a:ln w="9525" cap="flat" cmpd="sng" algn="ctr">
            <a:solidFill>
              <a:schemeClr val="accent6">
                <a:shade val="95000"/>
                <a:satMod val="105000"/>
              </a:schemeClr>
            </a:solidFill>
            <a:prstDash val="solid"/>
            <a:rou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c:spPr>
        <c:marker>
          <c:symbol val="circle"/>
          <c:size val="5"/>
          <c:spPr>
            <a:gradFill rotWithShape="1">
              <a:gsLst>
                <a:gs pos="0">
                  <a:schemeClr val="accent6">
                    <a:shade val="51000"/>
                    <a:satMod val="130000"/>
                  </a:schemeClr>
                </a:gs>
                <a:gs pos="80000">
                  <a:schemeClr val="accent6">
                    <a:shade val="93000"/>
                    <a:satMod val="130000"/>
                  </a:schemeClr>
                </a:gs>
                <a:gs pos="100000">
                  <a:schemeClr val="accent6">
                    <a:shade val="94000"/>
                    <a:satMod val="135000"/>
                  </a:schemeClr>
                </a:gs>
              </a:gsLst>
              <a:lin ang="16200000" scaled="0"/>
            </a:gradFill>
            <a:ln w="9525" cap="flat" cmpd="sng" algn="ctr">
              <a:solidFill>
                <a:schemeClr val="accent6">
                  <a:shade val="95000"/>
                  <a:satMod val="105000"/>
                </a:scheme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</c:marker>
        <c:dLbl>
          <c:idx val="0"/>
          <c:layout>
            <c:manualLayout>
              <c:x val="-4.6940500586808903E-2"/>
              <c:y val="2.391445568927782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600" b="1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chemeClr val="accent1"/>
          </a:solidFill>
          <a:ln w="9525" cap="flat" cmpd="sng" algn="ctr">
            <a:solidFill>
              <a:schemeClr val="accent6">
                <a:shade val="95000"/>
                <a:satMod val="105000"/>
              </a:schemeClr>
            </a:solidFill>
            <a:prstDash val="solid"/>
            <a:rou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c:spPr>
        <c:marker>
          <c:symbol val="circle"/>
          <c:size val="5"/>
          <c:spPr>
            <a:gradFill rotWithShape="1">
              <a:gsLst>
                <a:gs pos="0">
                  <a:schemeClr val="accent6">
                    <a:shade val="51000"/>
                    <a:satMod val="130000"/>
                  </a:schemeClr>
                </a:gs>
                <a:gs pos="80000">
                  <a:schemeClr val="accent6">
                    <a:shade val="93000"/>
                    <a:satMod val="130000"/>
                  </a:schemeClr>
                </a:gs>
                <a:gs pos="100000">
                  <a:schemeClr val="accent6">
                    <a:shade val="94000"/>
                    <a:satMod val="135000"/>
                  </a:schemeClr>
                </a:gs>
              </a:gsLst>
              <a:lin ang="16200000" scaled="0"/>
            </a:gradFill>
            <a:ln w="9525" cap="flat" cmpd="sng" algn="ctr">
              <a:solidFill>
                <a:schemeClr val="accent6">
                  <a:shade val="95000"/>
                  <a:satMod val="105000"/>
                </a:scheme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</c:marker>
        <c:dLbl>
          <c:idx val="0"/>
          <c:layout>
            <c:manualLayout>
              <c:x val="-3.7232020630902155E-2"/>
              <c:y val="1.5230101203501174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600" b="1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4511268591426074"/>
          <c:y val="0.30313733129894305"/>
          <c:w val="0.64885516342294158"/>
          <c:h val="0.53631285529049622"/>
        </c:manualLayout>
      </c:layout>
      <c:lineChart>
        <c:grouping val="standard"/>
        <c:varyColors val="0"/>
        <c:ser>
          <c:idx val="0"/>
          <c:order val="0"/>
          <c:tx>
            <c:strRef>
              <c:f>'patient demographics'!$B$41</c:f>
              <c:strCache>
                <c:ptCount val="1"/>
                <c:pt idx="0">
                  <c:v>Total</c:v>
                </c:pt>
              </c:strCache>
            </c:strRef>
          </c:tx>
          <c:spPr>
            <a:ln w="9525" cap="flat" cmpd="sng" algn="ctr">
              <a:solidFill>
                <a:schemeClr val="accent6">
                  <a:shade val="95000"/>
                  <a:satMod val="105000"/>
                </a:schemeClr>
              </a:solidFill>
              <a:prstDash val="solid"/>
              <a:rou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marker>
            <c:symbol val="circle"/>
            <c:size val="5"/>
            <c:spPr>
              <a:solidFill>
                <a:srgbClr val="FFFF00"/>
              </a:solidFill>
              <a:ln w="9525" cap="flat" cmpd="sng" algn="ctr">
                <a:solidFill>
                  <a:schemeClr val="accent6">
                    <a:shade val="95000"/>
                    <a:satMod val="105000"/>
                  </a:schemeClr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c:spPr>
          </c:marker>
          <c:dPt>
            <c:idx val="0"/>
            <c:marker>
              <c:symbol val="circle"/>
              <c:size val="5"/>
              <c:spPr>
                <a:solidFill>
                  <a:srgbClr val="FFFF00"/>
                </a:solidFill>
                <a:ln w="9525" cap="flat" cmpd="sng" algn="ctr">
                  <a:solidFill>
                    <a:schemeClr val="accent6">
                      <a:shade val="95000"/>
                      <a:satMod val="105000"/>
                    </a:schemeClr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c:spPr>
            </c:marker>
            <c:bubble3D val="0"/>
            <c:spPr>
              <a:ln w="9525" cap="flat" cmpd="sng" algn="ctr">
                <a:solidFill>
                  <a:schemeClr val="accent6">
                    <a:shade val="95000"/>
                    <a:satMod val="105000"/>
                  </a:schemeClr>
                </a:solidFill>
                <a:prstDash val="solid"/>
                <a:round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D8AA-46C7-B3FF-A9B7FAEE1E14}"/>
              </c:ext>
            </c:extLst>
          </c:dPt>
          <c:dPt>
            <c:idx val="1"/>
            <c:marker>
              <c:symbol val="circle"/>
              <c:size val="5"/>
              <c:spPr>
                <a:solidFill>
                  <a:srgbClr val="FFFF00"/>
                </a:solidFill>
                <a:ln w="9525" cap="flat" cmpd="sng" algn="ctr">
                  <a:solidFill>
                    <a:schemeClr val="accent6">
                      <a:shade val="95000"/>
                      <a:satMod val="105000"/>
                    </a:schemeClr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c:spPr>
            </c:marker>
            <c:bubble3D val="0"/>
            <c:spPr>
              <a:ln w="9525" cap="flat" cmpd="sng" algn="ctr">
                <a:solidFill>
                  <a:schemeClr val="accent6">
                    <a:shade val="95000"/>
                    <a:satMod val="105000"/>
                  </a:schemeClr>
                </a:solidFill>
                <a:prstDash val="solid"/>
                <a:round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D8AA-46C7-B3FF-A9B7FAEE1E14}"/>
              </c:ext>
            </c:extLst>
          </c:dPt>
          <c:dPt>
            <c:idx val="2"/>
            <c:marker>
              <c:symbol val="circle"/>
              <c:size val="5"/>
              <c:spPr>
                <a:solidFill>
                  <a:srgbClr val="FFFF00"/>
                </a:solidFill>
                <a:ln w="9525" cap="flat" cmpd="sng" algn="ctr">
                  <a:solidFill>
                    <a:schemeClr val="accent6">
                      <a:shade val="95000"/>
                      <a:satMod val="105000"/>
                    </a:schemeClr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c:spPr>
            </c:marker>
            <c:bubble3D val="0"/>
            <c:spPr>
              <a:ln w="9525" cap="flat" cmpd="sng" algn="ctr">
                <a:solidFill>
                  <a:schemeClr val="accent6">
                    <a:shade val="95000"/>
                    <a:satMod val="105000"/>
                  </a:schemeClr>
                </a:solidFill>
                <a:prstDash val="solid"/>
                <a:round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D8AA-46C7-B3FF-A9B7FAEE1E14}"/>
              </c:ext>
            </c:extLst>
          </c:dPt>
          <c:dPt>
            <c:idx val="3"/>
            <c:marker>
              <c:symbol val="circle"/>
              <c:size val="5"/>
              <c:spPr>
                <a:solidFill>
                  <a:srgbClr val="FFFF00"/>
                </a:solidFill>
                <a:ln w="9525" cap="flat" cmpd="sng" algn="ctr">
                  <a:solidFill>
                    <a:schemeClr val="accent6">
                      <a:shade val="95000"/>
                      <a:satMod val="105000"/>
                    </a:schemeClr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c:spPr>
            </c:marker>
            <c:bubble3D val="0"/>
            <c:spPr>
              <a:ln w="9525" cap="flat" cmpd="sng" algn="ctr">
                <a:solidFill>
                  <a:schemeClr val="accent6">
                    <a:shade val="95000"/>
                    <a:satMod val="105000"/>
                  </a:schemeClr>
                </a:solidFill>
                <a:prstDash val="solid"/>
                <a:round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D8AA-46C7-B3FF-A9B7FAEE1E14}"/>
              </c:ext>
            </c:extLst>
          </c:dPt>
          <c:dPt>
            <c:idx val="4"/>
            <c:marker>
              <c:symbol val="circle"/>
              <c:size val="5"/>
              <c:spPr>
                <a:solidFill>
                  <a:srgbClr val="FFFF00"/>
                </a:solidFill>
                <a:ln w="9525" cap="flat" cmpd="sng" algn="ctr">
                  <a:solidFill>
                    <a:schemeClr val="accent6">
                      <a:shade val="95000"/>
                      <a:satMod val="105000"/>
                    </a:schemeClr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c:spPr>
            </c:marker>
            <c:bubble3D val="0"/>
            <c:spPr>
              <a:ln w="9525" cap="flat" cmpd="sng" algn="ctr">
                <a:solidFill>
                  <a:schemeClr val="accent6">
                    <a:shade val="95000"/>
                    <a:satMod val="105000"/>
                  </a:schemeClr>
                </a:solidFill>
                <a:prstDash val="solid"/>
                <a:round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9-D8AA-46C7-B3FF-A9B7FAEE1E14}"/>
              </c:ext>
            </c:extLst>
          </c:dPt>
          <c:dLbls>
            <c:dLbl>
              <c:idx val="0"/>
              <c:layout>
                <c:manualLayout>
                  <c:x val="-3.7232020630902155E-2"/>
                  <c:y val="1.523010120350117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8AA-46C7-B3FF-A9B7FAEE1E14}"/>
                </c:ext>
              </c:extLst>
            </c:dLbl>
            <c:dLbl>
              <c:idx val="1"/>
              <c:layout>
                <c:manualLayout>
                  <c:x val="-3.7231942074042949E-2"/>
                  <c:y val="-7.2635440733932785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8AA-46C7-B3FF-A9B7FAEE1E14}"/>
                </c:ext>
              </c:extLst>
            </c:dLbl>
            <c:dLbl>
              <c:idx val="2"/>
              <c:layout>
                <c:manualLayout>
                  <c:x val="-3.7232020630902127E-2"/>
                  <c:y val="3.6940987417943189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D8AA-46C7-B3FF-A9B7FAEE1E14}"/>
                </c:ext>
              </c:extLst>
            </c:dLbl>
            <c:dLbl>
              <c:idx val="3"/>
              <c:layout>
                <c:manualLayout>
                  <c:x val="-4.6940500586808903E-2"/>
                  <c:y val="2.391445568927782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D8AA-46C7-B3FF-A9B7FAEE1E14}"/>
                </c:ext>
              </c:extLst>
            </c:dLbl>
            <c:dLbl>
              <c:idx val="4"/>
              <c:layout>
                <c:manualLayout>
                  <c:x val="-3.7232020630902155E-2"/>
                  <c:y val="1.523010120350117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D8AA-46C7-B3FF-A9B7FAEE1E1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'patient demographics'!$A$42:$A$45</c:f>
              <c:strCache>
                <c:ptCount val="3"/>
                <c:pt idx="0">
                  <c:v>Emergency</c:v>
                </c:pt>
                <c:pt idx="1">
                  <c:v>Inpatient</c:v>
                </c:pt>
                <c:pt idx="2">
                  <c:v>OPD</c:v>
                </c:pt>
              </c:strCache>
            </c:strRef>
          </c:cat>
          <c:val>
            <c:numRef>
              <c:f>'patient demographics'!$B$42:$B$45</c:f>
              <c:numCache>
                <c:formatCode>0%</c:formatCode>
                <c:ptCount val="3"/>
                <c:pt idx="0">
                  <c:v>0.19409999999999999</c:v>
                </c:pt>
                <c:pt idx="1">
                  <c:v>0.25069999999999998</c:v>
                </c:pt>
                <c:pt idx="2">
                  <c:v>0.55520000000000003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A-D8AA-46C7-B3FF-A9B7FAEE1E14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809045743"/>
        <c:axId val="1809046223"/>
      </c:lineChart>
      <c:catAx>
        <c:axId val="1809045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09046223"/>
        <c:crosses val="autoZero"/>
        <c:auto val="1"/>
        <c:lblAlgn val="ctr"/>
        <c:lblOffset val="100"/>
        <c:noMultiLvlLbl val="0"/>
      </c:catAx>
      <c:valAx>
        <c:axId val="1809046223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1809045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accent4">
        <a:lumMod val="60000"/>
        <a:lumOff val="40000"/>
      </a:schemeClr>
    </a:solidFill>
    <a:ln w="9525" cap="flat" cmpd="sng" algn="ctr">
      <a:solidFill>
        <a:schemeClr val="accent3">
          <a:shade val="95000"/>
          <a:satMod val="105000"/>
        </a:schemeClr>
      </a:solidFill>
      <a:prstDash val="solid"/>
      <a:round/>
    </a:ln>
    <a:effectLst>
      <a:outerShdw blurRad="40000" dist="20000" dir="5400000" rotWithShape="0">
        <a:srgbClr val="000000">
          <a:alpha val="38000"/>
        </a:srgbClr>
      </a:outerShdw>
    </a:effectLst>
  </c:spPr>
  <c:txPr>
    <a:bodyPr/>
    <a:lstStyle/>
    <a:p>
      <a:pPr>
        <a:defRPr>
          <a:solidFill>
            <a:schemeClr val="dk1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[Healthcare_Dashboard_Dataset_10000 (1).xlsx]patient demographics!PivotTable7</c:name>
    <c:fmtId val="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1" i="0" u="none" strike="noStrike" kern="1200" spc="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r>
              <a:rPr lang="en-US" sz="2400" b="1"/>
              <a:t>Department Wise patients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1" i="0" u="none" strike="noStrike" kern="1200" spc="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6"/>
          </a:solidFill>
          <a:ln w="25400" cap="flat" cmpd="sng" algn="ctr">
            <a:solidFill>
              <a:schemeClr val="accent6">
                <a:shade val="15000"/>
              </a:schemeClr>
            </a:solidFill>
            <a:prstDash val="solid"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6"/>
          </a:solidFill>
          <a:ln w="25400" cap="flat" cmpd="sng" algn="ctr">
            <a:solidFill>
              <a:schemeClr val="accent6">
                <a:shade val="15000"/>
              </a:schemeClr>
            </a:solidFill>
            <a:prstDash val="solid"/>
          </a:ln>
          <a:effectLst/>
        </c:spPr>
        <c:dLbl>
          <c:idx val="0"/>
          <c:layout>
            <c:manualLayout>
              <c:x val="0"/>
              <c:y val="-0.19416855597371546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6"/>
          </a:solidFill>
          <a:ln w="25400" cap="flat" cmpd="sng" algn="ctr">
            <a:solidFill>
              <a:schemeClr val="accent6">
                <a:shade val="15000"/>
              </a:schemeClr>
            </a:solidFill>
            <a:prstDash val="solid"/>
          </a:ln>
          <a:effectLst/>
        </c:spPr>
        <c:dLbl>
          <c:idx val="0"/>
          <c:layout>
            <c:manualLayout>
              <c:x val="1.516864271121386E-2"/>
              <c:y val="-0.15450410278289314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layout>
                <c:manualLayout>
                  <c:w val="5.4907329397667418E-2"/>
                  <c:h val="9.7874605718451968E-2"/>
                </c:manualLayout>
              </c15:layout>
            </c:ext>
          </c:extLst>
        </c:dLbl>
      </c:pivotFmt>
      <c:pivotFmt>
        <c:idx val="3"/>
        <c:spPr>
          <a:solidFill>
            <a:schemeClr val="accent6"/>
          </a:solidFill>
          <a:ln w="25400" cap="flat" cmpd="sng" algn="ctr">
            <a:solidFill>
              <a:schemeClr val="accent6">
                <a:shade val="15000"/>
              </a:schemeClr>
            </a:solidFill>
            <a:prstDash val="solid"/>
          </a:ln>
          <a:effectLst/>
        </c:spPr>
        <c:dLbl>
          <c:idx val="0"/>
          <c:layout>
            <c:manualLayout>
              <c:x val="0"/>
              <c:y val="-0.15269089797362517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6"/>
          </a:solidFill>
          <a:ln w="25400" cap="flat" cmpd="sng" algn="ctr">
            <a:solidFill>
              <a:schemeClr val="accent6">
                <a:shade val="15000"/>
              </a:schemeClr>
            </a:solidFill>
            <a:prstDash val="solid"/>
          </a:ln>
          <a:effectLst/>
        </c:spPr>
        <c:dLbl>
          <c:idx val="0"/>
          <c:layout>
            <c:manualLayout>
              <c:x val="-2.5477824562909865E-3"/>
              <c:y val="-0.21376725716307529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6"/>
          </a:solidFill>
          <a:ln w="25400" cap="flat" cmpd="sng" algn="ctr">
            <a:solidFill>
              <a:schemeClr val="accent6">
                <a:shade val="15000"/>
              </a:schemeClr>
            </a:solidFill>
            <a:prstDash val="solid"/>
          </a:ln>
          <a:effectLst/>
        </c:spPr>
        <c:dLbl>
          <c:idx val="0"/>
          <c:layout>
            <c:manualLayout>
              <c:x val="0"/>
              <c:y val="-0.17886648048338949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6"/>
          </a:solidFill>
          <a:ln w="25400" cap="flat" cmpd="sng" algn="ctr">
            <a:solidFill>
              <a:schemeClr val="accent6">
                <a:shade val="15000"/>
              </a:schemeClr>
            </a:solidFill>
            <a:prstDash val="solid"/>
          </a:ln>
          <a:effectLst/>
        </c:spPr>
        <c:dLbl>
          <c:idx val="0"/>
          <c:layout>
            <c:manualLayout>
              <c:x val="2.5477824562908928E-3"/>
              <c:y val="-0.1657786892285073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6"/>
          </a:solidFill>
          <a:ln w="25400" cap="flat" cmpd="sng" algn="ctr">
            <a:solidFill>
              <a:schemeClr val="accent6">
                <a:shade val="15000"/>
              </a:schemeClr>
            </a:solidFill>
            <a:prstDash val="solid"/>
          </a:ln>
          <a:effectLst/>
        </c:spPr>
        <c:dLbl>
          <c:idx val="0"/>
          <c:layout>
            <c:manualLayout>
              <c:x val="-2.5477824562909865E-3"/>
              <c:y val="-0.18759167465331095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6"/>
          </a:solidFill>
          <a:ln w="25400" cap="flat" cmpd="sng" algn="ctr">
            <a:solidFill>
              <a:schemeClr val="accent6">
                <a:shade val="15000"/>
              </a:schemeClr>
            </a:solidFill>
            <a:prstDash val="solid"/>
          </a:ln>
          <a:effectLst/>
        </c:spPr>
        <c:dLbl>
          <c:idx val="0"/>
          <c:layout>
            <c:manualLayout>
              <c:x val="0"/>
              <c:y val="-0.10033973295409655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6"/>
          </a:solidFill>
          <a:ln w="25400" cap="flat" cmpd="sng" algn="ctr">
            <a:solidFill>
              <a:schemeClr val="accent6">
                <a:shade val="15000"/>
              </a:schemeClr>
            </a:solidFill>
            <a:prstDash val="solid"/>
          </a:ln>
          <a:effectLst/>
        </c:spPr>
        <c:dLbl>
          <c:idx val="0"/>
          <c:layout>
            <c:manualLayout>
              <c:x val="0"/>
              <c:y val="-0.20940466007811454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6"/>
          </a:solidFill>
          <a:ln w="25400" cap="flat" cmpd="sng" algn="ctr">
            <a:solidFill>
              <a:schemeClr val="accent6">
                <a:shade val="15000"/>
              </a:schemeClr>
            </a:solidFill>
            <a:prstDash val="solid"/>
          </a:ln>
          <a:effectLst/>
        </c:spPr>
        <c:dLbl>
          <c:idx val="0"/>
          <c:layout>
            <c:manualLayout>
              <c:x val="2.5477824562909397E-3"/>
              <c:y val="-0.20067946590819311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6"/>
          </a:solidFill>
          <a:ln w="25400" cap="flat" cmpd="sng" algn="ctr">
            <a:solidFill>
              <a:schemeClr val="accent6">
                <a:shade val="15000"/>
              </a:schemeClr>
            </a:solidFill>
            <a:prstDash val="solid"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6"/>
          </a:solidFill>
          <a:ln w="25400" cap="flat" cmpd="sng" algn="ctr">
            <a:solidFill>
              <a:schemeClr val="accent6">
                <a:shade val="15000"/>
              </a:schemeClr>
            </a:solidFill>
            <a:prstDash val="solid"/>
          </a:ln>
          <a:effectLst/>
        </c:spPr>
        <c:dLbl>
          <c:idx val="0"/>
          <c:layout>
            <c:manualLayout>
              <c:x val="0"/>
              <c:y val="-0.10033973295409655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6"/>
          </a:solidFill>
          <a:ln w="25400" cap="flat" cmpd="sng" algn="ctr">
            <a:solidFill>
              <a:schemeClr val="accent6">
                <a:shade val="15000"/>
              </a:schemeClr>
            </a:solidFill>
            <a:prstDash val="solid"/>
          </a:ln>
          <a:effectLst/>
        </c:spPr>
        <c:dLbl>
          <c:idx val="0"/>
          <c:layout>
            <c:manualLayout>
              <c:x val="-2.5477824562909865E-3"/>
              <c:y val="-0.18759167465331095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6"/>
          </a:solidFill>
          <a:ln w="25400" cap="flat" cmpd="sng" algn="ctr">
            <a:solidFill>
              <a:schemeClr val="accent6">
                <a:shade val="15000"/>
              </a:schemeClr>
            </a:solidFill>
            <a:prstDash val="solid"/>
          </a:ln>
          <a:effectLst/>
        </c:spPr>
        <c:dLbl>
          <c:idx val="0"/>
          <c:layout>
            <c:manualLayout>
              <c:x val="0"/>
              <c:y val="-0.20940466007811454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6"/>
          </a:solidFill>
          <a:ln w="25400" cap="flat" cmpd="sng" algn="ctr">
            <a:solidFill>
              <a:schemeClr val="accent6">
                <a:shade val="15000"/>
              </a:schemeClr>
            </a:solidFill>
            <a:prstDash val="solid"/>
          </a:ln>
          <a:effectLst/>
        </c:spPr>
        <c:dLbl>
          <c:idx val="0"/>
          <c:layout>
            <c:manualLayout>
              <c:x val="0"/>
              <c:y val="-0.17886648048338949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6"/>
          </a:solidFill>
          <a:ln w="25400" cap="flat" cmpd="sng" algn="ctr">
            <a:solidFill>
              <a:schemeClr val="accent6">
                <a:shade val="15000"/>
              </a:schemeClr>
            </a:solidFill>
            <a:prstDash val="solid"/>
          </a:ln>
          <a:effectLst/>
        </c:spPr>
        <c:dLbl>
          <c:idx val="0"/>
          <c:layout>
            <c:manualLayout>
              <c:x val="2.5477824562909397E-3"/>
              <c:y val="-0.20067946590819311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6"/>
          </a:solidFill>
          <a:ln w="25400" cap="flat" cmpd="sng" algn="ctr">
            <a:solidFill>
              <a:schemeClr val="accent6">
                <a:shade val="15000"/>
              </a:schemeClr>
            </a:solidFill>
            <a:prstDash val="solid"/>
          </a:ln>
          <a:effectLst/>
        </c:spPr>
        <c:dLbl>
          <c:idx val="0"/>
          <c:layout>
            <c:manualLayout>
              <c:x val="-2.5477824562909865E-3"/>
              <c:y val="-0.21376725716307529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6"/>
          </a:solidFill>
          <a:ln w="25400" cap="flat" cmpd="sng" algn="ctr">
            <a:solidFill>
              <a:schemeClr val="accent6">
                <a:shade val="15000"/>
              </a:schemeClr>
            </a:solidFill>
            <a:prstDash val="solid"/>
          </a:ln>
          <a:effectLst/>
        </c:spPr>
        <c:dLbl>
          <c:idx val="0"/>
          <c:layout>
            <c:manualLayout>
              <c:x val="2.5477824562908928E-3"/>
              <c:y val="-0.1657786892285073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6"/>
          </a:solidFill>
          <a:ln w="25400" cap="flat" cmpd="sng" algn="ctr">
            <a:solidFill>
              <a:schemeClr val="accent6">
                <a:shade val="15000"/>
              </a:schemeClr>
            </a:solidFill>
            <a:prstDash val="solid"/>
          </a:ln>
          <a:effectLst/>
        </c:spPr>
        <c:dLbl>
          <c:idx val="0"/>
          <c:layout>
            <c:manualLayout>
              <c:x val="0"/>
              <c:y val="-0.15269089797362517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6"/>
          </a:solidFill>
          <a:ln w="25400" cap="flat" cmpd="sng" algn="ctr">
            <a:solidFill>
              <a:schemeClr val="accent6">
                <a:shade val="15000"/>
              </a:schemeClr>
            </a:solidFill>
            <a:prstDash val="solid"/>
          </a:ln>
          <a:effectLst/>
        </c:spPr>
        <c:dLbl>
          <c:idx val="0"/>
          <c:layout>
            <c:manualLayout>
              <c:x val="0"/>
              <c:y val="-0.19416855597371546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6"/>
          </a:solidFill>
          <a:ln w="25400" cap="flat" cmpd="sng" algn="ctr">
            <a:solidFill>
              <a:schemeClr val="accent6">
                <a:shade val="15000"/>
              </a:schemeClr>
            </a:solidFill>
            <a:prstDash val="solid"/>
          </a:ln>
          <a:effectLst/>
        </c:spPr>
        <c:dLbl>
          <c:idx val="0"/>
          <c:layout>
            <c:manualLayout>
              <c:x val="1.516864271121386E-2"/>
              <c:y val="-0.15450410278289314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layout>
                <c:manualLayout>
                  <c:w val="5.4907329397667418E-2"/>
                  <c:h val="9.7874605718451968E-2"/>
                </c:manualLayout>
              </c15:layout>
            </c:ext>
          </c:extLst>
        </c:dLbl>
      </c:pivotFmt>
      <c:pivotFmt>
        <c:idx val="22"/>
        <c:spPr>
          <a:solidFill>
            <a:schemeClr val="accent6"/>
          </a:solidFill>
          <a:ln w="25400" cap="flat" cmpd="sng" algn="ctr">
            <a:solidFill>
              <a:schemeClr val="accent6">
                <a:shade val="15000"/>
              </a:schemeClr>
            </a:solidFill>
            <a:prstDash val="solid"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chemeClr val="accent6"/>
          </a:solidFill>
          <a:ln w="25400" cap="flat" cmpd="sng" algn="ctr">
            <a:solidFill>
              <a:schemeClr val="accent6">
                <a:shade val="15000"/>
              </a:schemeClr>
            </a:solidFill>
            <a:prstDash val="solid"/>
          </a:ln>
          <a:effectLst/>
        </c:spPr>
        <c:dLbl>
          <c:idx val="0"/>
          <c:layout>
            <c:manualLayout>
              <c:x val="0"/>
              <c:y val="-0.10033973295409655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solidFill>
            <a:schemeClr val="accent6"/>
          </a:solidFill>
          <a:ln w="25400" cap="flat" cmpd="sng" algn="ctr">
            <a:solidFill>
              <a:schemeClr val="accent6">
                <a:shade val="15000"/>
              </a:schemeClr>
            </a:solidFill>
            <a:prstDash val="solid"/>
          </a:ln>
          <a:effectLst/>
        </c:spPr>
        <c:dLbl>
          <c:idx val="0"/>
          <c:layout>
            <c:manualLayout>
              <c:x val="-2.5477824562909865E-3"/>
              <c:y val="-0.18759167465331095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solidFill>
            <a:schemeClr val="accent6"/>
          </a:solidFill>
          <a:ln w="25400" cap="flat" cmpd="sng" algn="ctr">
            <a:solidFill>
              <a:schemeClr val="accent6">
                <a:shade val="15000"/>
              </a:schemeClr>
            </a:solidFill>
            <a:prstDash val="solid"/>
          </a:ln>
          <a:effectLst/>
        </c:spPr>
        <c:dLbl>
          <c:idx val="0"/>
          <c:layout>
            <c:manualLayout>
              <c:x val="0"/>
              <c:y val="-0.20940466007811454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solidFill>
            <a:schemeClr val="accent6"/>
          </a:solidFill>
          <a:ln w="25400" cap="flat" cmpd="sng" algn="ctr">
            <a:solidFill>
              <a:schemeClr val="accent6">
                <a:shade val="15000"/>
              </a:schemeClr>
            </a:solidFill>
            <a:prstDash val="solid"/>
          </a:ln>
          <a:effectLst/>
        </c:spPr>
        <c:dLbl>
          <c:idx val="0"/>
          <c:layout>
            <c:manualLayout>
              <c:x val="0"/>
              <c:y val="-0.17886648048338949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"/>
        <c:spPr>
          <a:solidFill>
            <a:schemeClr val="accent6"/>
          </a:solidFill>
          <a:ln w="25400" cap="flat" cmpd="sng" algn="ctr">
            <a:solidFill>
              <a:schemeClr val="accent6">
                <a:shade val="15000"/>
              </a:schemeClr>
            </a:solidFill>
            <a:prstDash val="solid"/>
          </a:ln>
          <a:effectLst/>
        </c:spPr>
        <c:dLbl>
          <c:idx val="0"/>
          <c:layout>
            <c:manualLayout>
              <c:x val="2.5477824562909397E-3"/>
              <c:y val="-0.20067946590819311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8"/>
        <c:spPr>
          <a:solidFill>
            <a:schemeClr val="accent6"/>
          </a:solidFill>
          <a:ln w="25400" cap="flat" cmpd="sng" algn="ctr">
            <a:solidFill>
              <a:schemeClr val="accent6">
                <a:shade val="15000"/>
              </a:schemeClr>
            </a:solidFill>
            <a:prstDash val="solid"/>
          </a:ln>
          <a:effectLst/>
        </c:spPr>
        <c:dLbl>
          <c:idx val="0"/>
          <c:layout>
            <c:manualLayout>
              <c:x val="-2.5477824562909865E-3"/>
              <c:y val="-0.21376725716307529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9"/>
        <c:spPr>
          <a:solidFill>
            <a:schemeClr val="accent6"/>
          </a:solidFill>
          <a:ln w="25400" cap="flat" cmpd="sng" algn="ctr">
            <a:solidFill>
              <a:schemeClr val="accent6">
                <a:shade val="15000"/>
              </a:schemeClr>
            </a:solidFill>
            <a:prstDash val="solid"/>
          </a:ln>
          <a:effectLst/>
        </c:spPr>
        <c:dLbl>
          <c:idx val="0"/>
          <c:layout>
            <c:manualLayout>
              <c:x val="2.5477824562908928E-3"/>
              <c:y val="-0.1657786892285073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0"/>
        <c:spPr>
          <a:solidFill>
            <a:schemeClr val="accent6"/>
          </a:solidFill>
          <a:ln w="25400" cap="flat" cmpd="sng" algn="ctr">
            <a:solidFill>
              <a:schemeClr val="accent6">
                <a:shade val="15000"/>
              </a:schemeClr>
            </a:solidFill>
            <a:prstDash val="solid"/>
          </a:ln>
          <a:effectLst/>
        </c:spPr>
        <c:dLbl>
          <c:idx val="0"/>
          <c:layout>
            <c:manualLayout>
              <c:x val="0"/>
              <c:y val="-0.15269089797362517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1"/>
        <c:spPr>
          <a:solidFill>
            <a:schemeClr val="accent6"/>
          </a:solidFill>
          <a:ln w="25400" cap="flat" cmpd="sng" algn="ctr">
            <a:solidFill>
              <a:schemeClr val="accent6">
                <a:shade val="15000"/>
              </a:schemeClr>
            </a:solidFill>
            <a:prstDash val="solid"/>
          </a:ln>
          <a:effectLst/>
        </c:spPr>
        <c:dLbl>
          <c:idx val="0"/>
          <c:layout>
            <c:manualLayout>
              <c:x val="0"/>
              <c:y val="-0.19416855597371546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2"/>
        <c:spPr>
          <a:solidFill>
            <a:schemeClr val="accent6"/>
          </a:solidFill>
          <a:ln w="25400" cap="flat" cmpd="sng" algn="ctr">
            <a:solidFill>
              <a:schemeClr val="accent6">
                <a:shade val="15000"/>
              </a:schemeClr>
            </a:solidFill>
            <a:prstDash val="solid"/>
          </a:ln>
          <a:effectLst/>
        </c:spPr>
        <c:dLbl>
          <c:idx val="0"/>
          <c:layout>
            <c:manualLayout>
              <c:x val="1.516864271121386E-2"/>
              <c:y val="-0.15450410278289314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layout>
                <c:manualLayout>
                  <c:w val="5.4907329397667418E-2"/>
                  <c:h val="9.7874605718451968E-2"/>
                </c:manualLayout>
              </c15:layout>
            </c:ext>
          </c:extLst>
        </c:dLbl>
      </c:pivotFmt>
    </c:pivotFmts>
    <c:plotArea>
      <c:layout>
        <c:manualLayout>
          <c:layoutTarget val="inner"/>
          <c:xMode val="edge"/>
          <c:yMode val="edge"/>
          <c:x val="8.080314960629921E-2"/>
          <c:y val="0.2401367016622922"/>
          <c:w val="0.76112270341207344"/>
          <c:h val="0.39702610090405366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'patient demographics'!$B$51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6"/>
            </a:solidFill>
            <a:ln w="25400" cap="flat" cmpd="sng" algn="ctr">
              <a:solidFill>
                <a:schemeClr val="accent6">
                  <a:shade val="15000"/>
                </a:schemeClr>
              </a:solidFill>
              <a:prstDash val="solid"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6"/>
              </a:solidFill>
              <a:ln w="25400" cap="flat" cmpd="sng" algn="ctr">
                <a:solidFill>
                  <a:schemeClr val="accent6">
                    <a:shade val="15000"/>
                  </a:schemeClr>
                </a:solidFill>
                <a:prstDash val="solid"/>
              </a:ln>
              <a:effectLst/>
            </c:spPr>
            <c:extLst>
              <c:ext xmlns:c16="http://schemas.microsoft.com/office/drawing/2014/chart" uri="{C3380CC4-5D6E-409C-BE32-E72D297353CC}">
                <c16:uniqueId val="{00000001-3937-493F-B160-6F9F9D33FD72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6"/>
              </a:solidFill>
              <a:ln w="25400" cap="flat" cmpd="sng" algn="ctr">
                <a:solidFill>
                  <a:schemeClr val="accent6">
                    <a:shade val="15000"/>
                  </a:schemeClr>
                </a:solidFill>
                <a:prstDash val="solid"/>
              </a:ln>
              <a:effectLst/>
            </c:spPr>
            <c:extLst>
              <c:ext xmlns:c16="http://schemas.microsoft.com/office/drawing/2014/chart" uri="{C3380CC4-5D6E-409C-BE32-E72D297353CC}">
                <c16:uniqueId val="{00000003-3937-493F-B160-6F9F9D33FD72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6"/>
              </a:solidFill>
              <a:ln w="25400" cap="flat" cmpd="sng" algn="ctr">
                <a:solidFill>
                  <a:schemeClr val="accent6">
                    <a:shade val="15000"/>
                  </a:schemeClr>
                </a:solidFill>
                <a:prstDash val="solid"/>
              </a:ln>
              <a:effectLst/>
            </c:spPr>
            <c:extLst>
              <c:ext xmlns:c16="http://schemas.microsoft.com/office/drawing/2014/chart" uri="{C3380CC4-5D6E-409C-BE32-E72D297353CC}">
                <c16:uniqueId val="{00000005-3937-493F-B160-6F9F9D33FD72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6"/>
              </a:solidFill>
              <a:ln w="25400" cap="flat" cmpd="sng" algn="ctr">
                <a:solidFill>
                  <a:schemeClr val="accent6">
                    <a:shade val="15000"/>
                  </a:schemeClr>
                </a:solidFill>
                <a:prstDash val="solid"/>
              </a:ln>
              <a:effectLst/>
            </c:spPr>
            <c:extLst>
              <c:ext xmlns:c16="http://schemas.microsoft.com/office/drawing/2014/chart" uri="{C3380CC4-5D6E-409C-BE32-E72D297353CC}">
                <c16:uniqueId val="{00000007-3937-493F-B160-6F9F9D33FD72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6"/>
              </a:solidFill>
              <a:ln w="25400" cap="flat" cmpd="sng" algn="ctr">
                <a:solidFill>
                  <a:schemeClr val="accent6">
                    <a:shade val="15000"/>
                  </a:schemeClr>
                </a:solidFill>
                <a:prstDash val="solid"/>
              </a:ln>
              <a:effectLst/>
            </c:spPr>
            <c:extLst>
              <c:ext xmlns:c16="http://schemas.microsoft.com/office/drawing/2014/chart" uri="{C3380CC4-5D6E-409C-BE32-E72D297353CC}">
                <c16:uniqueId val="{00000009-3937-493F-B160-6F9F9D33FD72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/>
              </a:solidFill>
              <a:ln w="25400" cap="flat" cmpd="sng" algn="ctr">
                <a:solidFill>
                  <a:schemeClr val="accent6">
                    <a:shade val="15000"/>
                  </a:schemeClr>
                </a:solidFill>
                <a:prstDash val="solid"/>
              </a:ln>
              <a:effectLst/>
            </c:spPr>
            <c:extLst>
              <c:ext xmlns:c16="http://schemas.microsoft.com/office/drawing/2014/chart" uri="{C3380CC4-5D6E-409C-BE32-E72D297353CC}">
                <c16:uniqueId val="{0000000B-3937-493F-B160-6F9F9D33FD72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6"/>
              </a:solidFill>
              <a:ln w="25400" cap="flat" cmpd="sng" algn="ctr">
                <a:solidFill>
                  <a:schemeClr val="accent6">
                    <a:shade val="15000"/>
                  </a:schemeClr>
                </a:solidFill>
                <a:prstDash val="solid"/>
              </a:ln>
              <a:effectLst/>
            </c:spPr>
            <c:extLst>
              <c:ext xmlns:c16="http://schemas.microsoft.com/office/drawing/2014/chart" uri="{C3380CC4-5D6E-409C-BE32-E72D297353CC}">
                <c16:uniqueId val="{0000000D-3937-493F-B160-6F9F9D33FD72}"/>
              </c:ext>
            </c:extLst>
          </c:dPt>
          <c:dPt>
            <c:idx val="7"/>
            <c:invertIfNegative val="0"/>
            <c:bubble3D val="0"/>
            <c:spPr>
              <a:solidFill>
                <a:schemeClr val="accent6"/>
              </a:solidFill>
              <a:ln w="25400" cap="flat" cmpd="sng" algn="ctr">
                <a:solidFill>
                  <a:schemeClr val="accent6">
                    <a:shade val="15000"/>
                  </a:schemeClr>
                </a:solidFill>
                <a:prstDash val="solid"/>
              </a:ln>
              <a:effectLst/>
            </c:spPr>
            <c:extLst>
              <c:ext xmlns:c16="http://schemas.microsoft.com/office/drawing/2014/chart" uri="{C3380CC4-5D6E-409C-BE32-E72D297353CC}">
                <c16:uniqueId val="{0000000F-3937-493F-B160-6F9F9D33FD72}"/>
              </c:ext>
            </c:extLst>
          </c:dPt>
          <c:dPt>
            <c:idx val="8"/>
            <c:invertIfNegative val="0"/>
            <c:bubble3D val="0"/>
            <c:spPr>
              <a:solidFill>
                <a:schemeClr val="accent6"/>
              </a:solidFill>
              <a:ln w="25400" cap="flat" cmpd="sng" algn="ctr">
                <a:solidFill>
                  <a:schemeClr val="accent6">
                    <a:shade val="15000"/>
                  </a:schemeClr>
                </a:solidFill>
                <a:prstDash val="solid"/>
              </a:ln>
              <a:effectLst/>
            </c:spPr>
            <c:extLst>
              <c:ext xmlns:c16="http://schemas.microsoft.com/office/drawing/2014/chart" uri="{C3380CC4-5D6E-409C-BE32-E72D297353CC}">
                <c16:uniqueId val="{00000011-3937-493F-B160-6F9F9D33FD72}"/>
              </c:ext>
            </c:extLst>
          </c:dPt>
          <c:dPt>
            <c:idx val="9"/>
            <c:invertIfNegative val="0"/>
            <c:bubble3D val="0"/>
            <c:spPr>
              <a:solidFill>
                <a:schemeClr val="accent6"/>
              </a:solidFill>
              <a:ln w="25400" cap="flat" cmpd="sng" algn="ctr">
                <a:solidFill>
                  <a:schemeClr val="accent6">
                    <a:shade val="15000"/>
                  </a:schemeClr>
                </a:solidFill>
                <a:prstDash val="solid"/>
              </a:ln>
              <a:effectLst/>
            </c:spPr>
            <c:extLst>
              <c:ext xmlns:c16="http://schemas.microsoft.com/office/drawing/2014/chart" uri="{C3380CC4-5D6E-409C-BE32-E72D297353CC}">
                <c16:uniqueId val="{00000013-3937-493F-B160-6F9F9D33FD72}"/>
              </c:ext>
            </c:extLst>
          </c:dPt>
          <c:dLbls>
            <c:dLbl>
              <c:idx val="0"/>
              <c:layout>
                <c:manualLayout>
                  <c:x val="0"/>
                  <c:y val="-0.10033973295409655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937-493F-B160-6F9F9D33FD72}"/>
                </c:ext>
              </c:extLst>
            </c:dLbl>
            <c:dLbl>
              <c:idx val="1"/>
              <c:layout>
                <c:manualLayout>
                  <c:x val="-2.5477824562909865E-3"/>
                  <c:y val="-0.18759167465331095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937-493F-B160-6F9F9D33FD72}"/>
                </c:ext>
              </c:extLst>
            </c:dLbl>
            <c:dLbl>
              <c:idx val="2"/>
              <c:layout>
                <c:manualLayout>
                  <c:x val="0"/>
                  <c:y val="-0.20940466007811454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3937-493F-B160-6F9F9D33FD72}"/>
                </c:ext>
              </c:extLst>
            </c:dLbl>
            <c:dLbl>
              <c:idx val="3"/>
              <c:layout>
                <c:manualLayout>
                  <c:x val="0"/>
                  <c:y val="-0.17886648048338949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3937-493F-B160-6F9F9D33FD72}"/>
                </c:ext>
              </c:extLst>
            </c:dLbl>
            <c:dLbl>
              <c:idx val="4"/>
              <c:layout>
                <c:manualLayout>
                  <c:x val="2.5477824562909397E-3"/>
                  <c:y val="-0.20067946590819311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3937-493F-B160-6F9F9D33FD72}"/>
                </c:ext>
              </c:extLst>
            </c:dLbl>
            <c:dLbl>
              <c:idx val="5"/>
              <c:layout>
                <c:manualLayout>
                  <c:x val="-2.5477824562909865E-3"/>
                  <c:y val="-0.21376725716307529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3937-493F-B160-6F9F9D33FD72}"/>
                </c:ext>
              </c:extLst>
            </c:dLbl>
            <c:dLbl>
              <c:idx val="6"/>
              <c:layout>
                <c:manualLayout>
                  <c:x val="2.5477824562908928E-3"/>
                  <c:y val="-0.1657786892285073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3937-493F-B160-6F9F9D33FD72}"/>
                </c:ext>
              </c:extLst>
            </c:dLbl>
            <c:dLbl>
              <c:idx val="7"/>
              <c:layout>
                <c:manualLayout>
                  <c:x val="0"/>
                  <c:y val="-0.152690897973625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3937-493F-B160-6F9F9D33FD72}"/>
                </c:ext>
              </c:extLst>
            </c:dLbl>
            <c:dLbl>
              <c:idx val="8"/>
              <c:layout>
                <c:manualLayout>
                  <c:x val="0"/>
                  <c:y val="-0.1941685559737154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3937-493F-B160-6F9F9D33FD72}"/>
                </c:ext>
              </c:extLst>
            </c:dLbl>
            <c:dLbl>
              <c:idx val="9"/>
              <c:layout>
                <c:manualLayout>
                  <c:x val="4.148440403807431E-2"/>
                  <c:y val="-0.13732199659917735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0753885205138831"/>
                      <c:h val="0.13223881808588356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3-3937-493F-B160-6F9F9D33FD7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'patient demographics'!$A$52:$A$62</c:f>
              <c:strCache>
                <c:ptCount val="10"/>
                <c:pt idx="0">
                  <c:v>Cardiology</c:v>
                </c:pt>
                <c:pt idx="1">
                  <c:v>Dermatology</c:v>
                </c:pt>
                <c:pt idx="2">
                  <c:v>ENT</c:v>
                </c:pt>
                <c:pt idx="3">
                  <c:v>General</c:v>
                </c:pt>
                <c:pt idx="4">
                  <c:v>Gynecology</c:v>
                </c:pt>
                <c:pt idx="5">
                  <c:v>Neurology</c:v>
                </c:pt>
                <c:pt idx="6">
                  <c:v>Oncology</c:v>
                </c:pt>
                <c:pt idx="7">
                  <c:v>Orthopedics</c:v>
                </c:pt>
                <c:pt idx="8">
                  <c:v>Pediatrics</c:v>
                </c:pt>
                <c:pt idx="9">
                  <c:v>Urology</c:v>
                </c:pt>
              </c:strCache>
            </c:strRef>
          </c:cat>
          <c:val>
            <c:numRef>
              <c:f>'patient demographics'!$B$52:$B$62</c:f>
              <c:numCache>
                <c:formatCode>0%</c:formatCode>
                <c:ptCount val="10"/>
                <c:pt idx="0">
                  <c:v>9.5500000000000002E-2</c:v>
                </c:pt>
                <c:pt idx="1">
                  <c:v>0.1007</c:v>
                </c:pt>
                <c:pt idx="2">
                  <c:v>0.10150000000000001</c:v>
                </c:pt>
                <c:pt idx="3">
                  <c:v>0.1007</c:v>
                </c:pt>
                <c:pt idx="4">
                  <c:v>0.1013</c:v>
                </c:pt>
                <c:pt idx="5">
                  <c:v>0.1031</c:v>
                </c:pt>
                <c:pt idx="6">
                  <c:v>9.9000000000000005E-2</c:v>
                </c:pt>
                <c:pt idx="7">
                  <c:v>9.8500000000000004E-2</c:v>
                </c:pt>
                <c:pt idx="8">
                  <c:v>0.10100000000000001</c:v>
                </c:pt>
                <c:pt idx="9">
                  <c:v>9.8699999999999996E-2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3937-493F-B160-6F9F9D33FD72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902874720"/>
        <c:axId val="1902880000"/>
      </c:barChart>
      <c:catAx>
        <c:axId val="19028747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02880000"/>
        <c:crosses val="autoZero"/>
        <c:auto val="1"/>
        <c:lblAlgn val="ctr"/>
        <c:lblOffset val="100"/>
        <c:noMultiLvlLbl val="0"/>
      </c:catAx>
      <c:valAx>
        <c:axId val="1902880000"/>
        <c:scaling>
          <c:orientation val="minMax"/>
        </c:scaling>
        <c:delete val="1"/>
        <c:axPos val="l"/>
        <c:numFmt formatCode="0%" sourceLinked="1"/>
        <c:majorTickMark val="out"/>
        <c:minorTickMark val="none"/>
        <c:tickLblPos val="nextTo"/>
        <c:crossAx val="19028747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accent4">
        <a:lumMod val="60000"/>
        <a:lumOff val="40000"/>
      </a:schemeClr>
    </a:solidFill>
    <a:ln w="9525" cap="flat" cmpd="sng" algn="ctr">
      <a:solidFill>
        <a:schemeClr val="accent3">
          <a:shade val="95000"/>
          <a:satMod val="105000"/>
        </a:schemeClr>
      </a:solidFill>
      <a:prstDash val="solid"/>
      <a:round/>
    </a:ln>
    <a:effectLst>
      <a:outerShdw blurRad="40000" dist="20000" dir="5400000" rotWithShape="0">
        <a:srgbClr val="000000">
          <a:alpha val="38000"/>
        </a:srgbClr>
      </a:outerShdw>
    </a:effectLst>
  </c:spPr>
  <c:txPr>
    <a:bodyPr/>
    <a:lstStyle/>
    <a:p>
      <a:pPr>
        <a:defRPr>
          <a:solidFill>
            <a:schemeClr val="dk1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[Healthcare_Dashboard_Dataset_10000 (1).xlsx]patient demographics!PivotTable6</c:name>
    <c:fmtId val="2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1" i="0" u="none" strike="noStrike" kern="1200" spc="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r>
              <a:rPr lang="en-US" sz="2400" b="1"/>
              <a:t>Admission Type</a:t>
            </a:r>
            <a:r>
              <a:rPr lang="en-US" sz="2400" b="1" baseline="0"/>
              <a:t> Visits</a:t>
            </a:r>
            <a:endParaRPr lang="en-US" sz="2400" b="1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1" i="0" u="none" strike="noStrike" kern="1200" spc="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9525" cap="flat" cmpd="sng" algn="ctr">
            <a:solidFill>
              <a:schemeClr val="accent6">
                <a:shade val="95000"/>
                <a:satMod val="105000"/>
              </a:schemeClr>
            </a:solidFill>
            <a:prstDash val="solid"/>
            <a:rou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c:spPr>
        <c:marker>
          <c:symbol val="circle"/>
          <c:size val="5"/>
          <c:spPr>
            <a:gradFill rotWithShape="1">
              <a:gsLst>
                <a:gs pos="0">
                  <a:schemeClr val="accent6">
                    <a:shade val="51000"/>
                    <a:satMod val="130000"/>
                  </a:schemeClr>
                </a:gs>
                <a:gs pos="80000">
                  <a:schemeClr val="accent6">
                    <a:shade val="93000"/>
                    <a:satMod val="130000"/>
                  </a:schemeClr>
                </a:gs>
                <a:gs pos="100000">
                  <a:schemeClr val="accent6">
                    <a:shade val="94000"/>
                    <a:satMod val="135000"/>
                  </a:schemeClr>
                </a:gs>
              </a:gsLst>
              <a:lin ang="16200000" scaled="0"/>
            </a:gradFill>
            <a:ln w="9525" cap="flat" cmpd="sng" algn="ctr">
              <a:solidFill>
                <a:schemeClr val="accent6">
                  <a:shade val="95000"/>
                  <a:satMod val="105000"/>
                </a:scheme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600" b="1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5400" cap="flat" cmpd="sng" algn="ctr">
            <a:solidFill>
              <a:schemeClr val="accent3">
                <a:shade val="15000"/>
              </a:schemeClr>
            </a:solidFill>
            <a:prstDash val="solid"/>
            <a:round/>
          </a:ln>
          <a:effectLst/>
        </c:spPr>
        <c:marker>
          <c:symbol val="circle"/>
          <c:size val="5"/>
          <c:spPr>
            <a:solidFill>
              <a:schemeClr val="accent3"/>
            </a:solidFill>
            <a:ln w="25400" cap="flat" cmpd="sng" algn="ctr">
              <a:solidFill>
                <a:schemeClr val="accent3">
                  <a:shade val="15000"/>
                </a:schemeClr>
              </a:solidFill>
              <a:prstDash val="solid"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5400" cap="flat" cmpd="sng" algn="ctr">
            <a:solidFill>
              <a:schemeClr val="accent4">
                <a:shade val="15000"/>
              </a:schemeClr>
            </a:solidFill>
            <a:prstDash val="solid"/>
            <a:round/>
          </a:ln>
          <a:effectLst/>
        </c:spPr>
        <c:marker>
          <c:symbol val="circle"/>
          <c:size val="5"/>
          <c:spPr>
            <a:solidFill>
              <a:schemeClr val="accent4"/>
            </a:solidFill>
            <a:ln w="25400" cap="flat" cmpd="sng" algn="ctr">
              <a:solidFill>
                <a:schemeClr val="accent4">
                  <a:shade val="15000"/>
                </a:schemeClr>
              </a:solidFill>
              <a:prstDash val="solid"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9525" cap="flat" cmpd="sng" algn="ctr">
            <a:solidFill>
              <a:schemeClr val="accent6">
                <a:shade val="95000"/>
                <a:satMod val="105000"/>
              </a:schemeClr>
            </a:solidFill>
            <a:prstDash val="solid"/>
            <a:rou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c:spPr>
        <c:marker>
          <c:symbol val="circle"/>
          <c:size val="5"/>
          <c:spPr>
            <a:gradFill rotWithShape="1">
              <a:gsLst>
                <a:gs pos="0">
                  <a:schemeClr val="accent6">
                    <a:shade val="51000"/>
                    <a:satMod val="130000"/>
                  </a:schemeClr>
                </a:gs>
                <a:gs pos="80000">
                  <a:schemeClr val="accent6">
                    <a:shade val="93000"/>
                    <a:satMod val="130000"/>
                  </a:schemeClr>
                </a:gs>
                <a:gs pos="100000">
                  <a:schemeClr val="accent6">
                    <a:shade val="94000"/>
                    <a:satMod val="135000"/>
                  </a:schemeClr>
                </a:gs>
              </a:gsLst>
              <a:lin ang="16200000" scaled="0"/>
            </a:gradFill>
            <a:ln w="9525" cap="flat" cmpd="sng" algn="ctr">
              <a:solidFill>
                <a:schemeClr val="accent6">
                  <a:shade val="95000"/>
                  <a:satMod val="105000"/>
                </a:scheme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</c:marker>
        <c:dLbl>
          <c:idx val="0"/>
          <c:layout>
            <c:manualLayout>
              <c:x val="-3.7232020630902127E-2"/>
              <c:y val="3.6940987417943189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600" b="1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9525" cap="flat" cmpd="sng" algn="ctr">
            <a:solidFill>
              <a:schemeClr val="accent6">
                <a:shade val="95000"/>
                <a:satMod val="105000"/>
              </a:schemeClr>
            </a:solidFill>
            <a:prstDash val="solid"/>
            <a:rou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c:spPr>
        <c:marker>
          <c:symbol val="circle"/>
          <c:size val="5"/>
          <c:spPr>
            <a:gradFill rotWithShape="1">
              <a:gsLst>
                <a:gs pos="0">
                  <a:schemeClr val="accent6">
                    <a:shade val="51000"/>
                    <a:satMod val="130000"/>
                  </a:schemeClr>
                </a:gs>
                <a:gs pos="80000">
                  <a:schemeClr val="accent6">
                    <a:shade val="93000"/>
                    <a:satMod val="130000"/>
                  </a:schemeClr>
                </a:gs>
                <a:gs pos="100000">
                  <a:schemeClr val="accent6">
                    <a:shade val="94000"/>
                    <a:satMod val="135000"/>
                  </a:schemeClr>
                </a:gs>
              </a:gsLst>
              <a:lin ang="16200000" scaled="0"/>
            </a:gradFill>
            <a:ln w="9525" cap="flat" cmpd="sng" algn="ctr">
              <a:solidFill>
                <a:schemeClr val="accent6">
                  <a:shade val="95000"/>
                  <a:satMod val="105000"/>
                </a:scheme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</c:marker>
        <c:dLbl>
          <c:idx val="0"/>
          <c:layout>
            <c:manualLayout>
              <c:x val="-3.7231942074042949E-2"/>
              <c:y val="-7.2635440733932785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600" b="1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9525" cap="flat" cmpd="sng" algn="ctr">
            <a:solidFill>
              <a:schemeClr val="accent6">
                <a:shade val="95000"/>
                <a:satMod val="105000"/>
              </a:schemeClr>
            </a:solidFill>
            <a:prstDash val="solid"/>
            <a:rou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c:spPr>
        <c:marker>
          <c:symbol val="circle"/>
          <c:size val="5"/>
          <c:spPr>
            <a:gradFill rotWithShape="1">
              <a:gsLst>
                <a:gs pos="0">
                  <a:schemeClr val="accent6">
                    <a:shade val="51000"/>
                    <a:satMod val="130000"/>
                  </a:schemeClr>
                </a:gs>
                <a:gs pos="80000">
                  <a:schemeClr val="accent6">
                    <a:shade val="93000"/>
                    <a:satMod val="130000"/>
                  </a:schemeClr>
                </a:gs>
                <a:gs pos="100000">
                  <a:schemeClr val="accent6">
                    <a:shade val="94000"/>
                    <a:satMod val="135000"/>
                  </a:schemeClr>
                </a:gs>
              </a:gsLst>
              <a:lin ang="16200000" scaled="0"/>
            </a:gradFill>
            <a:ln w="9525" cap="flat" cmpd="sng" algn="ctr">
              <a:solidFill>
                <a:schemeClr val="accent6">
                  <a:shade val="95000"/>
                  <a:satMod val="105000"/>
                </a:scheme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</c:marker>
        <c:dLbl>
          <c:idx val="0"/>
          <c:layout>
            <c:manualLayout>
              <c:x val="-3.7232020630902155E-2"/>
              <c:y val="1.5230101203501174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600" b="1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9525" cap="flat" cmpd="sng" algn="ctr">
            <a:solidFill>
              <a:schemeClr val="accent6">
                <a:shade val="95000"/>
                <a:satMod val="105000"/>
              </a:schemeClr>
            </a:solidFill>
            <a:prstDash val="solid"/>
            <a:rou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c:spPr>
        <c:marker>
          <c:symbol val="circle"/>
          <c:size val="5"/>
          <c:spPr>
            <a:gradFill rotWithShape="1">
              <a:gsLst>
                <a:gs pos="0">
                  <a:schemeClr val="accent6">
                    <a:shade val="51000"/>
                    <a:satMod val="130000"/>
                  </a:schemeClr>
                </a:gs>
                <a:gs pos="80000">
                  <a:schemeClr val="accent6">
                    <a:shade val="93000"/>
                    <a:satMod val="130000"/>
                  </a:schemeClr>
                </a:gs>
                <a:gs pos="100000">
                  <a:schemeClr val="accent6">
                    <a:shade val="94000"/>
                    <a:satMod val="135000"/>
                  </a:schemeClr>
                </a:gs>
              </a:gsLst>
              <a:lin ang="16200000" scaled="0"/>
            </a:gradFill>
            <a:ln w="9525" cap="flat" cmpd="sng" algn="ctr">
              <a:solidFill>
                <a:schemeClr val="accent6">
                  <a:shade val="95000"/>
                  <a:satMod val="105000"/>
                </a:scheme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</c:marker>
        <c:dLbl>
          <c:idx val="0"/>
          <c:layout>
            <c:manualLayout>
              <c:x val="-3.7232020630902155E-2"/>
              <c:y val="1.5230101203501174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600" b="1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5400" cap="flat" cmpd="sng" algn="ctr">
            <a:solidFill>
              <a:schemeClr val="accent3">
                <a:shade val="15000"/>
              </a:schemeClr>
            </a:solidFill>
            <a:prstDash val="solid"/>
            <a:round/>
          </a:ln>
          <a:effectLst/>
        </c:spPr>
        <c:marker>
          <c:symbol val="circle"/>
          <c:size val="5"/>
        </c:marker>
        <c:dLbl>
          <c:idx val="0"/>
          <c:layout>
            <c:manualLayout>
              <c:x val="-8.0920180432482211E-2"/>
              <c:y val="-4.5560380196936541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9525" cap="flat" cmpd="sng" algn="ctr">
            <a:solidFill>
              <a:schemeClr val="accent6">
                <a:shade val="95000"/>
                <a:satMod val="105000"/>
              </a:schemeClr>
            </a:solidFill>
            <a:prstDash val="solid"/>
            <a:rou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c:spPr>
        <c:marker>
          <c:symbol val="circle"/>
          <c:size val="5"/>
          <c:spPr>
            <a:gradFill rotWithShape="1">
              <a:gsLst>
                <a:gs pos="0">
                  <a:schemeClr val="accent6">
                    <a:shade val="51000"/>
                    <a:satMod val="130000"/>
                  </a:schemeClr>
                </a:gs>
                <a:gs pos="80000">
                  <a:schemeClr val="accent6">
                    <a:shade val="93000"/>
                    <a:satMod val="130000"/>
                  </a:schemeClr>
                </a:gs>
                <a:gs pos="100000">
                  <a:schemeClr val="accent6">
                    <a:shade val="94000"/>
                    <a:satMod val="135000"/>
                  </a:schemeClr>
                </a:gs>
              </a:gsLst>
              <a:lin ang="16200000" scaled="0"/>
            </a:gradFill>
            <a:ln w="9525" cap="flat" cmpd="sng" algn="ctr">
              <a:solidFill>
                <a:schemeClr val="accent6">
                  <a:shade val="95000"/>
                  <a:satMod val="105000"/>
                </a:scheme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</c:marker>
        <c:dLbl>
          <c:idx val="0"/>
          <c:layout>
            <c:manualLayout>
              <c:x val="-4.6940500586808903E-2"/>
              <c:y val="2.391445568927782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600" b="1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</c:pivotFmt>
      <c:pivotFmt>
        <c:idx val="10"/>
      </c:pivotFmt>
      <c:pivotFmt>
        <c:idx val="1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</c:pivotFmt>
      <c:pivotFmt>
        <c:idx val="1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</c:pivotFmt>
      <c:pivotFmt>
        <c:idx val="1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</c:pivotFmt>
      <c:pivotFmt>
        <c:idx val="1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</c:pivotFmt>
      <c:pivotFmt>
        <c:idx val="1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</c:pivotFmt>
      <c:pivotFmt>
        <c:idx val="2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</c:pivotFmt>
    </c:pivotFmts>
    <c:plotArea>
      <c:layout>
        <c:manualLayout>
          <c:layoutTarget val="inner"/>
          <c:xMode val="edge"/>
          <c:yMode val="edge"/>
          <c:x val="0.13400161775681987"/>
          <c:y val="0.27284139570645877"/>
          <c:w val="0.64885516342294158"/>
          <c:h val="0.53631285529049622"/>
        </c:manualLayout>
      </c:layout>
      <c:lineChart>
        <c:grouping val="standard"/>
        <c:varyColors val="0"/>
        <c:ser>
          <c:idx val="0"/>
          <c:order val="0"/>
          <c:tx>
            <c:strRef>
              <c:f>'patient demographics'!$B$41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0"/>
            <c:marker>
              <c:symbol val="circle"/>
              <c:size val="5"/>
              <c:spPr>
                <a:solidFill>
                  <a:schemeClr val="accent1"/>
                </a:solidFill>
                <a:ln w="9525">
                  <a:solidFill>
                    <a:schemeClr val="accent1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2218-4F62-B4EE-4128E288770B}"/>
              </c:ext>
            </c:extLst>
          </c:dPt>
          <c:dPt>
            <c:idx val="1"/>
            <c:marker>
              <c:symbol val="circle"/>
              <c:size val="5"/>
              <c:spPr>
                <a:solidFill>
                  <a:schemeClr val="accent1"/>
                </a:solidFill>
                <a:ln w="9525">
                  <a:solidFill>
                    <a:schemeClr val="accent1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2218-4F62-B4EE-4128E288770B}"/>
              </c:ext>
            </c:extLst>
          </c:dPt>
          <c:dPt>
            <c:idx val="2"/>
            <c:marker>
              <c:symbol val="circle"/>
              <c:size val="5"/>
              <c:spPr>
                <a:solidFill>
                  <a:schemeClr val="accent1"/>
                </a:solidFill>
                <a:ln w="9525">
                  <a:solidFill>
                    <a:schemeClr val="accent1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2218-4F62-B4EE-4128E288770B}"/>
              </c:ext>
            </c:extLst>
          </c:dPt>
          <c:dPt>
            <c:idx val="3"/>
            <c:marker>
              <c:symbol val="circle"/>
              <c:size val="5"/>
              <c:spPr>
                <a:solidFill>
                  <a:schemeClr val="accent1"/>
                </a:solidFill>
                <a:ln w="9525">
                  <a:solidFill>
                    <a:schemeClr val="accent1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2218-4F62-B4EE-4128E288770B}"/>
              </c:ext>
            </c:extLst>
          </c:dPt>
          <c:dPt>
            <c:idx val="4"/>
            <c:marker>
              <c:symbol val="circle"/>
              <c:size val="5"/>
              <c:spPr>
                <a:solidFill>
                  <a:schemeClr val="accent1"/>
                </a:solidFill>
                <a:ln w="9525">
                  <a:solidFill>
                    <a:schemeClr val="accent1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2218-4F62-B4EE-4128E288770B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400" b="0" i="0" u="none" strike="noStrike" kern="1200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'patient demographics'!$A$42:$A$45</c:f>
              <c:strCache>
                <c:ptCount val="3"/>
                <c:pt idx="0">
                  <c:v>Emergency</c:v>
                </c:pt>
                <c:pt idx="1">
                  <c:v>Inpatient</c:v>
                </c:pt>
                <c:pt idx="2">
                  <c:v>OPD</c:v>
                </c:pt>
              </c:strCache>
            </c:strRef>
          </c:cat>
          <c:val>
            <c:numRef>
              <c:f>'patient demographics'!$B$42:$B$45</c:f>
              <c:numCache>
                <c:formatCode>0%</c:formatCode>
                <c:ptCount val="3"/>
                <c:pt idx="0">
                  <c:v>0.19409999999999999</c:v>
                </c:pt>
                <c:pt idx="1">
                  <c:v>0.25069999999999998</c:v>
                </c:pt>
                <c:pt idx="2">
                  <c:v>0.55520000000000003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2218-4F62-B4EE-4128E288770B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809045743"/>
        <c:axId val="1809046223"/>
      </c:lineChart>
      <c:catAx>
        <c:axId val="1809045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09046223"/>
        <c:crosses val="autoZero"/>
        <c:auto val="1"/>
        <c:lblAlgn val="ctr"/>
        <c:lblOffset val="100"/>
        <c:noMultiLvlLbl val="0"/>
      </c:catAx>
      <c:valAx>
        <c:axId val="1809046223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1809045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accent4">
        <a:lumMod val="60000"/>
        <a:lumOff val="40000"/>
      </a:schemeClr>
    </a:solidFill>
    <a:ln w="9525" cap="flat" cmpd="sng" algn="ctr">
      <a:solidFill>
        <a:schemeClr val="accent3">
          <a:shade val="95000"/>
          <a:satMod val="105000"/>
        </a:schemeClr>
      </a:solidFill>
      <a:prstDash val="solid"/>
      <a:round/>
    </a:ln>
    <a:effectLst>
      <a:outerShdw blurRad="40000" dist="20000" dir="5400000" rotWithShape="0">
        <a:srgbClr val="000000">
          <a:alpha val="38000"/>
        </a:srgbClr>
      </a:outerShdw>
    </a:effectLst>
  </c:spPr>
  <c:txPr>
    <a:bodyPr/>
    <a:lstStyle/>
    <a:p>
      <a:pPr>
        <a:defRPr>
          <a:solidFill>
            <a:schemeClr val="dk1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[Health care Dashboards.xlsx]patient demographics!PivotTable7</c:name>
    <c:fmtId val="1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1" i="0" u="none" strike="noStrike" kern="1200" spc="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r>
              <a:rPr lang="en-US" sz="2400" b="1"/>
              <a:t>Department Wise patients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1" i="0" u="none" strike="noStrike" kern="1200" spc="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6"/>
          </a:solidFill>
          <a:ln w="25400" cap="flat" cmpd="sng" algn="ctr">
            <a:solidFill>
              <a:schemeClr val="accent6">
                <a:shade val="15000"/>
              </a:schemeClr>
            </a:solidFill>
            <a:prstDash val="solid"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6"/>
          </a:solidFill>
          <a:ln w="25400" cap="flat" cmpd="sng" algn="ctr">
            <a:solidFill>
              <a:schemeClr val="accent6">
                <a:shade val="15000"/>
              </a:schemeClr>
            </a:solidFill>
            <a:prstDash val="solid"/>
          </a:ln>
          <a:effectLst/>
        </c:spPr>
        <c:dLbl>
          <c:idx val="0"/>
          <c:layout>
            <c:manualLayout>
              <c:x val="0"/>
              <c:y val="-0.19416855597371546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6"/>
          </a:solidFill>
          <a:ln w="25400" cap="flat" cmpd="sng" algn="ctr">
            <a:solidFill>
              <a:schemeClr val="accent6">
                <a:shade val="15000"/>
              </a:schemeClr>
            </a:solidFill>
            <a:prstDash val="solid"/>
          </a:ln>
          <a:effectLst/>
        </c:spPr>
        <c:dLbl>
          <c:idx val="0"/>
          <c:layout>
            <c:manualLayout>
              <c:x val="1.516864271121386E-2"/>
              <c:y val="-0.15450410278289314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layout>
                <c:manualLayout>
                  <c:w val="5.4907329397667418E-2"/>
                  <c:h val="9.7874605718451968E-2"/>
                </c:manualLayout>
              </c15:layout>
            </c:ext>
          </c:extLst>
        </c:dLbl>
      </c:pivotFmt>
      <c:pivotFmt>
        <c:idx val="3"/>
        <c:spPr>
          <a:solidFill>
            <a:schemeClr val="accent6"/>
          </a:solidFill>
          <a:ln w="25400" cap="flat" cmpd="sng" algn="ctr">
            <a:solidFill>
              <a:schemeClr val="accent6">
                <a:shade val="15000"/>
              </a:schemeClr>
            </a:solidFill>
            <a:prstDash val="solid"/>
          </a:ln>
          <a:effectLst/>
        </c:spPr>
        <c:dLbl>
          <c:idx val="0"/>
          <c:layout>
            <c:manualLayout>
              <c:x val="0"/>
              <c:y val="-0.15269089797362517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6"/>
          </a:solidFill>
          <a:ln w="25400" cap="flat" cmpd="sng" algn="ctr">
            <a:solidFill>
              <a:schemeClr val="accent6">
                <a:shade val="15000"/>
              </a:schemeClr>
            </a:solidFill>
            <a:prstDash val="solid"/>
          </a:ln>
          <a:effectLst/>
        </c:spPr>
        <c:dLbl>
          <c:idx val="0"/>
          <c:layout>
            <c:manualLayout>
              <c:x val="-2.5477824562909865E-3"/>
              <c:y val="-0.21376725716307529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6"/>
          </a:solidFill>
          <a:ln w="25400" cap="flat" cmpd="sng" algn="ctr">
            <a:solidFill>
              <a:schemeClr val="accent6">
                <a:shade val="15000"/>
              </a:schemeClr>
            </a:solidFill>
            <a:prstDash val="solid"/>
          </a:ln>
          <a:effectLst/>
        </c:spPr>
        <c:dLbl>
          <c:idx val="0"/>
          <c:layout>
            <c:manualLayout>
              <c:x val="0"/>
              <c:y val="-0.17886648048338949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6"/>
          </a:solidFill>
          <a:ln w="25400" cap="flat" cmpd="sng" algn="ctr">
            <a:solidFill>
              <a:schemeClr val="accent6">
                <a:shade val="15000"/>
              </a:schemeClr>
            </a:solidFill>
            <a:prstDash val="solid"/>
          </a:ln>
          <a:effectLst/>
        </c:spPr>
        <c:dLbl>
          <c:idx val="0"/>
          <c:layout>
            <c:manualLayout>
              <c:x val="2.5477824562908928E-3"/>
              <c:y val="-0.1657786892285073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6"/>
          </a:solidFill>
          <a:ln w="25400" cap="flat" cmpd="sng" algn="ctr">
            <a:solidFill>
              <a:schemeClr val="accent6">
                <a:shade val="15000"/>
              </a:schemeClr>
            </a:solidFill>
            <a:prstDash val="solid"/>
          </a:ln>
          <a:effectLst/>
        </c:spPr>
        <c:dLbl>
          <c:idx val="0"/>
          <c:layout>
            <c:manualLayout>
              <c:x val="-2.5477824562909865E-3"/>
              <c:y val="-0.18759167465331095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6"/>
          </a:solidFill>
          <a:ln w="25400" cap="flat" cmpd="sng" algn="ctr">
            <a:solidFill>
              <a:schemeClr val="accent6">
                <a:shade val="15000"/>
              </a:schemeClr>
            </a:solidFill>
            <a:prstDash val="solid"/>
          </a:ln>
          <a:effectLst/>
        </c:spPr>
        <c:dLbl>
          <c:idx val="0"/>
          <c:layout>
            <c:manualLayout>
              <c:x val="0"/>
              <c:y val="-0.10033973295409655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6"/>
          </a:solidFill>
          <a:ln w="25400" cap="flat" cmpd="sng" algn="ctr">
            <a:solidFill>
              <a:schemeClr val="accent6">
                <a:shade val="15000"/>
              </a:schemeClr>
            </a:solidFill>
            <a:prstDash val="solid"/>
          </a:ln>
          <a:effectLst/>
        </c:spPr>
        <c:dLbl>
          <c:idx val="0"/>
          <c:layout>
            <c:manualLayout>
              <c:x val="0"/>
              <c:y val="-0.20940466007811454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6"/>
          </a:solidFill>
          <a:ln w="25400" cap="flat" cmpd="sng" algn="ctr">
            <a:solidFill>
              <a:schemeClr val="accent6">
                <a:shade val="15000"/>
              </a:schemeClr>
            </a:solidFill>
            <a:prstDash val="solid"/>
          </a:ln>
          <a:effectLst/>
        </c:spPr>
        <c:dLbl>
          <c:idx val="0"/>
          <c:layout>
            <c:manualLayout>
              <c:x val="2.5477824562909397E-3"/>
              <c:y val="-0.20067946590819311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6"/>
          </a:solidFill>
          <a:ln w="25400" cap="flat" cmpd="sng" algn="ctr">
            <a:solidFill>
              <a:schemeClr val="accent6">
                <a:shade val="15000"/>
              </a:schemeClr>
            </a:solidFill>
            <a:prstDash val="solid"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6"/>
          </a:solidFill>
          <a:ln w="25400" cap="flat" cmpd="sng" algn="ctr">
            <a:solidFill>
              <a:schemeClr val="accent6">
                <a:shade val="15000"/>
              </a:schemeClr>
            </a:solidFill>
            <a:prstDash val="solid"/>
          </a:ln>
          <a:effectLst/>
        </c:spPr>
        <c:dLbl>
          <c:idx val="0"/>
          <c:layout>
            <c:manualLayout>
              <c:x val="0"/>
              <c:y val="-0.10033973295409655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6"/>
          </a:solidFill>
          <a:ln w="25400" cap="flat" cmpd="sng" algn="ctr">
            <a:solidFill>
              <a:schemeClr val="accent6">
                <a:shade val="15000"/>
              </a:schemeClr>
            </a:solidFill>
            <a:prstDash val="solid"/>
          </a:ln>
          <a:effectLst/>
        </c:spPr>
        <c:dLbl>
          <c:idx val="0"/>
          <c:layout>
            <c:manualLayout>
              <c:x val="-2.5477824562909865E-3"/>
              <c:y val="-0.18759167465331095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6"/>
          </a:solidFill>
          <a:ln w="25400" cap="flat" cmpd="sng" algn="ctr">
            <a:solidFill>
              <a:schemeClr val="accent6">
                <a:shade val="15000"/>
              </a:schemeClr>
            </a:solidFill>
            <a:prstDash val="solid"/>
          </a:ln>
          <a:effectLst/>
        </c:spPr>
        <c:dLbl>
          <c:idx val="0"/>
          <c:layout>
            <c:manualLayout>
              <c:x val="0"/>
              <c:y val="-0.20940466007811454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6"/>
          </a:solidFill>
          <a:ln w="25400" cap="flat" cmpd="sng" algn="ctr">
            <a:solidFill>
              <a:schemeClr val="accent6">
                <a:shade val="15000"/>
              </a:schemeClr>
            </a:solidFill>
            <a:prstDash val="solid"/>
          </a:ln>
          <a:effectLst/>
        </c:spPr>
        <c:dLbl>
          <c:idx val="0"/>
          <c:layout>
            <c:manualLayout>
              <c:x val="0"/>
              <c:y val="-0.17886648048338949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6"/>
          </a:solidFill>
          <a:ln w="25400" cap="flat" cmpd="sng" algn="ctr">
            <a:solidFill>
              <a:schemeClr val="accent6">
                <a:shade val="15000"/>
              </a:schemeClr>
            </a:solidFill>
            <a:prstDash val="solid"/>
          </a:ln>
          <a:effectLst/>
        </c:spPr>
        <c:dLbl>
          <c:idx val="0"/>
          <c:layout>
            <c:manualLayout>
              <c:x val="2.5477824562909397E-3"/>
              <c:y val="-0.20067946590819311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6"/>
          </a:solidFill>
          <a:ln w="25400" cap="flat" cmpd="sng" algn="ctr">
            <a:solidFill>
              <a:schemeClr val="accent6">
                <a:shade val="15000"/>
              </a:schemeClr>
            </a:solidFill>
            <a:prstDash val="solid"/>
          </a:ln>
          <a:effectLst/>
        </c:spPr>
        <c:dLbl>
          <c:idx val="0"/>
          <c:layout>
            <c:manualLayout>
              <c:x val="-2.5477824562909865E-3"/>
              <c:y val="-0.21376725716307529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6"/>
          </a:solidFill>
          <a:ln w="25400" cap="flat" cmpd="sng" algn="ctr">
            <a:solidFill>
              <a:schemeClr val="accent6">
                <a:shade val="15000"/>
              </a:schemeClr>
            </a:solidFill>
            <a:prstDash val="solid"/>
          </a:ln>
          <a:effectLst/>
        </c:spPr>
        <c:dLbl>
          <c:idx val="0"/>
          <c:layout>
            <c:manualLayout>
              <c:x val="2.5477824562908928E-3"/>
              <c:y val="-0.1657786892285073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6"/>
          </a:solidFill>
          <a:ln w="25400" cap="flat" cmpd="sng" algn="ctr">
            <a:solidFill>
              <a:schemeClr val="accent6">
                <a:shade val="15000"/>
              </a:schemeClr>
            </a:solidFill>
            <a:prstDash val="solid"/>
          </a:ln>
          <a:effectLst/>
        </c:spPr>
        <c:dLbl>
          <c:idx val="0"/>
          <c:layout>
            <c:manualLayout>
              <c:x val="0"/>
              <c:y val="-0.15269089797362517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6"/>
          </a:solidFill>
          <a:ln w="25400" cap="flat" cmpd="sng" algn="ctr">
            <a:solidFill>
              <a:schemeClr val="accent6">
                <a:shade val="15000"/>
              </a:schemeClr>
            </a:solidFill>
            <a:prstDash val="solid"/>
          </a:ln>
          <a:effectLst/>
        </c:spPr>
        <c:dLbl>
          <c:idx val="0"/>
          <c:layout>
            <c:manualLayout>
              <c:x val="0"/>
              <c:y val="-0.19416855597371546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6"/>
          </a:solidFill>
          <a:ln w="25400" cap="flat" cmpd="sng" algn="ctr">
            <a:solidFill>
              <a:schemeClr val="accent6">
                <a:shade val="15000"/>
              </a:schemeClr>
            </a:solidFill>
            <a:prstDash val="solid"/>
          </a:ln>
          <a:effectLst/>
        </c:spPr>
        <c:dLbl>
          <c:idx val="0"/>
          <c:layout>
            <c:manualLayout>
              <c:x val="1.516864271121386E-2"/>
              <c:y val="-0.15450410278289314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layout>
                <c:manualLayout>
                  <c:w val="5.4907329397667418E-2"/>
                  <c:h val="9.7874605718451968E-2"/>
                </c:manualLayout>
              </c15:layout>
            </c:ext>
          </c:extLst>
        </c:dLbl>
      </c:pivotFmt>
      <c:pivotFmt>
        <c:idx val="22"/>
        <c:spPr>
          <a:solidFill>
            <a:schemeClr val="accent6"/>
          </a:solidFill>
          <a:ln w="25400" cap="flat" cmpd="sng" algn="ctr">
            <a:solidFill>
              <a:schemeClr val="accent6">
                <a:shade val="15000"/>
              </a:schemeClr>
            </a:solidFill>
            <a:prstDash val="solid"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chemeClr val="accent6"/>
          </a:solidFill>
          <a:ln w="25400" cap="flat" cmpd="sng" algn="ctr">
            <a:solidFill>
              <a:schemeClr val="accent6">
                <a:shade val="15000"/>
              </a:schemeClr>
            </a:solidFill>
            <a:prstDash val="solid"/>
          </a:ln>
          <a:effectLst/>
        </c:spPr>
        <c:dLbl>
          <c:idx val="0"/>
          <c:layout>
            <c:manualLayout>
              <c:x val="0"/>
              <c:y val="-0.10033973295409655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solidFill>
            <a:schemeClr val="accent6"/>
          </a:solidFill>
          <a:ln w="25400" cap="flat" cmpd="sng" algn="ctr">
            <a:solidFill>
              <a:schemeClr val="accent6">
                <a:shade val="15000"/>
              </a:schemeClr>
            </a:solidFill>
            <a:prstDash val="solid"/>
          </a:ln>
          <a:effectLst/>
        </c:spPr>
        <c:dLbl>
          <c:idx val="0"/>
          <c:layout>
            <c:manualLayout>
              <c:x val="-2.5477824562909865E-3"/>
              <c:y val="-0.18759167465331095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solidFill>
            <a:schemeClr val="accent6"/>
          </a:solidFill>
          <a:ln w="25400" cap="flat" cmpd="sng" algn="ctr">
            <a:solidFill>
              <a:schemeClr val="accent6">
                <a:shade val="15000"/>
              </a:schemeClr>
            </a:solidFill>
            <a:prstDash val="solid"/>
          </a:ln>
          <a:effectLst/>
        </c:spPr>
        <c:dLbl>
          <c:idx val="0"/>
          <c:layout>
            <c:manualLayout>
              <c:x val="0"/>
              <c:y val="-0.20940466007811454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solidFill>
            <a:schemeClr val="accent6"/>
          </a:solidFill>
          <a:ln w="25400" cap="flat" cmpd="sng" algn="ctr">
            <a:solidFill>
              <a:schemeClr val="accent6">
                <a:shade val="15000"/>
              </a:schemeClr>
            </a:solidFill>
            <a:prstDash val="solid"/>
          </a:ln>
          <a:effectLst/>
        </c:spPr>
        <c:dLbl>
          <c:idx val="0"/>
          <c:layout>
            <c:manualLayout>
              <c:x val="0"/>
              <c:y val="-0.17886648048338949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"/>
        <c:spPr>
          <a:solidFill>
            <a:schemeClr val="accent6"/>
          </a:solidFill>
          <a:ln w="25400" cap="flat" cmpd="sng" algn="ctr">
            <a:solidFill>
              <a:schemeClr val="accent6">
                <a:shade val="15000"/>
              </a:schemeClr>
            </a:solidFill>
            <a:prstDash val="solid"/>
          </a:ln>
          <a:effectLst/>
        </c:spPr>
        <c:dLbl>
          <c:idx val="0"/>
          <c:layout>
            <c:manualLayout>
              <c:x val="2.5477824562909397E-3"/>
              <c:y val="-0.20067946590819311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8"/>
        <c:spPr>
          <a:solidFill>
            <a:schemeClr val="accent6"/>
          </a:solidFill>
          <a:ln w="25400" cap="flat" cmpd="sng" algn="ctr">
            <a:solidFill>
              <a:schemeClr val="accent6">
                <a:shade val="15000"/>
              </a:schemeClr>
            </a:solidFill>
            <a:prstDash val="solid"/>
          </a:ln>
          <a:effectLst/>
        </c:spPr>
        <c:dLbl>
          <c:idx val="0"/>
          <c:layout>
            <c:manualLayout>
              <c:x val="-2.5477824562909865E-3"/>
              <c:y val="-0.21376725716307529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9"/>
        <c:spPr>
          <a:solidFill>
            <a:schemeClr val="accent6"/>
          </a:solidFill>
          <a:ln w="25400" cap="flat" cmpd="sng" algn="ctr">
            <a:solidFill>
              <a:schemeClr val="accent6">
                <a:shade val="15000"/>
              </a:schemeClr>
            </a:solidFill>
            <a:prstDash val="solid"/>
          </a:ln>
          <a:effectLst/>
        </c:spPr>
        <c:dLbl>
          <c:idx val="0"/>
          <c:layout>
            <c:manualLayout>
              <c:x val="2.5477824562908928E-3"/>
              <c:y val="-0.1657786892285073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0"/>
        <c:spPr>
          <a:solidFill>
            <a:schemeClr val="accent6"/>
          </a:solidFill>
          <a:ln w="25400" cap="flat" cmpd="sng" algn="ctr">
            <a:solidFill>
              <a:schemeClr val="accent6">
                <a:shade val="15000"/>
              </a:schemeClr>
            </a:solidFill>
            <a:prstDash val="solid"/>
          </a:ln>
          <a:effectLst/>
        </c:spPr>
        <c:dLbl>
          <c:idx val="0"/>
          <c:layout>
            <c:manualLayout>
              <c:x val="0"/>
              <c:y val="-0.15269089797362517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1"/>
        <c:spPr>
          <a:solidFill>
            <a:schemeClr val="accent6"/>
          </a:solidFill>
          <a:ln w="25400" cap="flat" cmpd="sng" algn="ctr">
            <a:solidFill>
              <a:schemeClr val="accent6">
                <a:shade val="15000"/>
              </a:schemeClr>
            </a:solidFill>
            <a:prstDash val="solid"/>
          </a:ln>
          <a:effectLst/>
        </c:spPr>
        <c:dLbl>
          <c:idx val="0"/>
          <c:layout>
            <c:manualLayout>
              <c:x val="0"/>
              <c:y val="-0.19416855597371546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2"/>
        <c:spPr>
          <a:solidFill>
            <a:schemeClr val="accent6"/>
          </a:solidFill>
          <a:ln w="25400" cap="flat" cmpd="sng" algn="ctr">
            <a:solidFill>
              <a:schemeClr val="accent6">
                <a:shade val="15000"/>
              </a:schemeClr>
            </a:solidFill>
            <a:prstDash val="solid"/>
          </a:ln>
          <a:effectLst/>
        </c:spPr>
        <c:dLbl>
          <c:idx val="0"/>
          <c:layout>
            <c:manualLayout>
              <c:x val="1.516864271121386E-2"/>
              <c:y val="-0.15450410278289314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layout>
                <c:manualLayout>
                  <c:w val="5.4907329397667418E-2"/>
                  <c:h val="9.7874605718451968E-2"/>
                </c:manualLayout>
              </c15:layout>
            </c:ext>
          </c:extLst>
        </c:dLbl>
      </c:pivotFmt>
    </c:pivotFmts>
    <c:plotArea>
      <c:layout>
        <c:manualLayout>
          <c:layoutTarget val="inner"/>
          <c:xMode val="edge"/>
          <c:yMode val="edge"/>
          <c:x val="8.080314960629921E-2"/>
          <c:y val="0.2401367016622922"/>
          <c:w val="0.76112270341207344"/>
          <c:h val="0.39702610090405366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'patient demographics'!$B$51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6"/>
            </a:solidFill>
            <a:ln w="25400" cap="flat" cmpd="sng" algn="ctr">
              <a:solidFill>
                <a:schemeClr val="accent6">
                  <a:shade val="15000"/>
                </a:schemeClr>
              </a:solidFill>
              <a:prstDash val="solid"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6"/>
              </a:solidFill>
              <a:ln w="25400" cap="flat" cmpd="sng" algn="ctr">
                <a:solidFill>
                  <a:schemeClr val="accent6">
                    <a:shade val="15000"/>
                  </a:schemeClr>
                </a:solidFill>
                <a:prstDash val="solid"/>
              </a:ln>
              <a:effectLst/>
            </c:spPr>
            <c:extLst>
              <c:ext xmlns:c16="http://schemas.microsoft.com/office/drawing/2014/chart" uri="{C3380CC4-5D6E-409C-BE32-E72D297353CC}">
                <c16:uniqueId val="{00000001-4727-4A88-8860-622B74DE0D3A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6"/>
              </a:solidFill>
              <a:ln w="25400" cap="flat" cmpd="sng" algn="ctr">
                <a:solidFill>
                  <a:schemeClr val="accent6">
                    <a:shade val="15000"/>
                  </a:schemeClr>
                </a:solidFill>
                <a:prstDash val="solid"/>
              </a:ln>
              <a:effectLst/>
            </c:spPr>
            <c:extLst>
              <c:ext xmlns:c16="http://schemas.microsoft.com/office/drawing/2014/chart" uri="{C3380CC4-5D6E-409C-BE32-E72D297353CC}">
                <c16:uniqueId val="{00000003-4727-4A88-8860-622B74DE0D3A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6"/>
              </a:solidFill>
              <a:ln w="25400" cap="flat" cmpd="sng" algn="ctr">
                <a:solidFill>
                  <a:schemeClr val="accent6">
                    <a:shade val="15000"/>
                  </a:schemeClr>
                </a:solidFill>
                <a:prstDash val="solid"/>
              </a:ln>
              <a:effectLst/>
            </c:spPr>
            <c:extLst>
              <c:ext xmlns:c16="http://schemas.microsoft.com/office/drawing/2014/chart" uri="{C3380CC4-5D6E-409C-BE32-E72D297353CC}">
                <c16:uniqueId val="{00000005-4727-4A88-8860-622B74DE0D3A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6"/>
              </a:solidFill>
              <a:ln w="25400" cap="flat" cmpd="sng" algn="ctr">
                <a:solidFill>
                  <a:schemeClr val="accent6">
                    <a:shade val="15000"/>
                  </a:schemeClr>
                </a:solidFill>
                <a:prstDash val="solid"/>
              </a:ln>
              <a:effectLst/>
            </c:spPr>
            <c:extLst>
              <c:ext xmlns:c16="http://schemas.microsoft.com/office/drawing/2014/chart" uri="{C3380CC4-5D6E-409C-BE32-E72D297353CC}">
                <c16:uniqueId val="{00000007-4727-4A88-8860-622B74DE0D3A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6"/>
              </a:solidFill>
              <a:ln w="25400" cap="flat" cmpd="sng" algn="ctr">
                <a:solidFill>
                  <a:schemeClr val="accent6">
                    <a:shade val="15000"/>
                  </a:schemeClr>
                </a:solidFill>
                <a:prstDash val="solid"/>
              </a:ln>
              <a:effectLst/>
            </c:spPr>
            <c:extLst>
              <c:ext xmlns:c16="http://schemas.microsoft.com/office/drawing/2014/chart" uri="{C3380CC4-5D6E-409C-BE32-E72D297353CC}">
                <c16:uniqueId val="{00000009-4727-4A88-8860-622B74DE0D3A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/>
              </a:solidFill>
              <a:ln w="25400" cap="flat" cmpd="sng" algn="ctr">
                <a:solidFill>
                  <a:schemeClr val="accent6">
                    <a:shade val="15000"/>
                  </a:schemeClr>
                </a:solidFill>
                <a:prstDash val="solid"/>
              </a:ln>
              <a:effectLst/>
            </c:spPr>
            <c:extLst>
              <c:ext xmlns:c16="http://schemas.microsoft.com/office/drawing/2014/chart" uri="{C3380CC4-5D6E-409C-BE32-E72D297353CC}">
                <c16:uniqueId val="{0000000B-4727-4A88-8860-622B74DE0D3A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6"/>
              </a:solidFill>
              <a:ln w="25400" cap="flat" cmpd="sng" algn="ctr">
                <a:solidFill>
                  <a:schemeClr val="accent6">
                    <a:shade val="15000"/>
                  </a:schemeClr>
                </a:solidFill>
                <a:prstDash val="solid"/>
              </a:ln>
              <a:effectLst/>
            </c:spPr>
            <c:extLst>
              <c:ext xmlns:c16="http://schemas.microsoft.com/office/drawing/2014/chart" uri="{C3380CC4-5D6E-409C-BE32-E72D297353CC}">
                <c16:uniqueId val="{0000000D-4727-4A88-8860-622B74DE0D3A}"/>
              </c:ext>
            </c:extLst>
          </c:dPt>
          <c:dPt>
            <c:idx val="7"/>
            <c:invertIfNegative val="0"/>
            <c:bubble3D val="0"/>
            <c:spPr>
              <a:solidFill>
                <a:schemeClr val="accent6"/>
              </a:solidFill>
              <a:ln w="25400" cap="flat" cmpd="sng" algn="ctr">
                <a:solidFill>
                  <a:schemeClr val="accent6">
                    <a:shade val="15000"/>
                  </a:schemeClr>
                </a:solidFill>
                <a:prstDash val="solid"/>
              </a:ln>
              <a:effectLst/>
            </c:spPr>
            <c:extLst>
              <c:ext xmlns:c16="http://schemas.microsoft.com/office/drawing/2014/chart" uri="{C3380CC4-5D6E-409C-BE32-E72D297353CC}">
                <c16:uniqueId val="{0000000F-4727-4A88-8860-622B74DE0D3A}"/>
              </c:ext>
            </c:extLst>
          </c:dPt>
          <c:dPt>
            <c:idx val="8"/>
            <c:invertIfNegative val="0"/>
            <c:bubble3D val="0"/>
            <c:spPr>
              <a:solidFill>
                <a:schemeClr val="accent6"/>
              </a:solidFill>
              <a:ln w="25400" cap="flat" cmpd="sng" algn="ctr">
                <a:solidFill>
                  <a:schemeClr val="accent6">
                    <a:shade val="15000"/>
                  </a:schemeClr>
                </a:solidFill>
                <a:prstDash val="solid"/>
              </a:ln>
              <a:effectLst/>
            </c:spPr>
            <c:extLst>
              <c:ext xmlns:c16="http://schemas.microsoft.com/office/drawing/2014/chart" uri="{C3380CC4-5D6E-409C-BE32-E72D297353CC}">
                <c16:uniqueId val="{00000011-4727-4A88-8860-622B74DE0D3A}"/>
              </c:ext>
            </c:extLst>
          </c:dPt>
          <c:dPt>
            <c:idx val="9"/>
            <c:invertIfNegative val="0"/>
            <c:bubble3D val="0"/>
            <c:spPr>
              <a:solidFill>
                <a:schemeClr val="accent6"/>
              </a:solidFill>
              <a:ln w="25400" cap="flat" cmpd="sng" algn="ctr">
                <a:solidFill>
                  <a:schemeClr val="accent6">
                    <a:shade val="15000"/>
                  </a:schemeClr>
                </a:solidFill>
                <a:prstDash val="solid"/>
              </a:ln>
              <a:effectLst/>
            </c:spPr>
            <c:extLst>
              <c:ext xmlns:c16="http://schemas.microsoft.com/office/drawing/2014/chart" uri="{C3380CC4-5D6E-409C-BE32-E72D297353CC}">
                <c16:uniqueId val="{00000013-4727-4A88-8860-622B74DE0D3A}"/>
              </c:ext>
            </c:extLst>
          </c:dPt>
          <c:dLbls>
            <c:dLbl>
              <c:idx val="0"/>
              <c:layout>
                <c:manualLayout>
                  <c:x val="0"/>
                  <c:y val="-0.10033973295409655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727-4A88-8860-622B74DE0D3A}"/>
                </c:ext>
              </c:extLst>
            </c:dLbl>
            <c:dLbl>
              <c:idx val="1"/>
              <c:layout>
                <c:manualLayout>
                  <c:x val="-2.5477824562909865E-3"/>
                  <c:y val="-0.18759167465331095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727-4A88-8860-622B74DE0D3A}"/>
                </c:ext>
              </c:extLst>
            </c:dLbl>
            <c:dLbl>
              <c:idx val="2"/>
              <c:layout>
                <c:manualLayout>
                  <c:x val="0"/>
                  <c:y val="-0.20940466007811454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4727-4A88-8860-622B74DE0D3A}"/>
                </c:ext>
              </c:extLst>
            </c:dLbl>
            <c:dLbl>
              <c:idx val="3"/>
              <c:layout>
                <c:manualLayout>
                  <c:x val="0"/>
                  <c:y val="-0.17886648048338949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4727-4A88-8860-622B74DE0D3A}"/>
                </c:ext>
              </c:extLst>
            </c:dLbl>
            <c:dLbl>
              <c:idx val="4"/>
              <c:layout>
                <c:manualLayout>
                  <c:x val="2.5477824562909397E-3"/>
                  <c:y val="-0.20067946590819311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4727-4A88-8860-622B74DE0D3A}"/>
                </c:ext>
              </c:extLst>
            </c:dLbl>
            <c:dLbl>
              <c:idx val="5"/>
              <c:layout>
                <c:manualLayout>
                  <c:x val="-2.5477824562909865E-3"/>
                  <c:y val="-0.21376725716307529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4727-4A88-8860-622B74DE0D3A}"/>
                </c:ext>
              </c:extLst>
            </c:dLbl>
            <c:dLbl>
              <c:idx val="6"/>
              <c:layout>
                <c:manualLayout>
                  <c:x val="2.5477824562908928E-3"/>
                  <c:y val="-0.1657786892285073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4727-4A88-8860-622B74DE0D3A}"/>
                </c:ext>
              </c:extLst>
            </c:dLbl>
            <c:dLbl>
              <c:idx val="7"/>
              <c:layout>
                <c:manualLayout>
                  <c:x val="0"/>
                  <c:y val="-0.152690897973625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4727-4A88-8860-622B74DE0D3A}"/>
                </c:ext>
              </c:extLst>
            </c:dLbl>
            <c:dLbl>
              <c:idx val="8"/>
              <c:layout>
                <c:manualLayout>
                  <c:x val="0"/>
                  <c:y val="-0.1941685559737154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4727-4A88-8860-622B74DE0D3A}"/>
                </c:ext>
              </c:extLst>
            </c:dLbl>
            <c:dLbl>
              <c:idx val="9"/>
              <c:layout>
                <c:manualLayout>
                  <c:x val="1.516864271121386E-2"/>
                  <c:y val="-0.15450410278289314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5.4907329397667418E-2"/>
                      <c:h val="9.7874605718451968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3-4727-4A88-8860-622B74DE0D3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'patient demographics'!$A$52:$A$62</c:f>
              <c:strCache>
                <c:ptCount val="10"/>
                <c:pt idx="0">
                  <c:v>Cardiology</c:v>
                </c:pt>
                <c:pt idx="1">
                  <c:v>Dermatology</c:v>
                </c:pt>
                <c:pt idx="2">
                  <c:v>ENT</c:v>
                </c:pt>
                <c:pt idx="3">
                  <c:v>General</c:v>
                </c:pt>
                <c:pt idx="4">
                  <c:v>Gynecology</c:v>
                </c:pt>
                <c:pt idx="5">
                  <c:v>Neurology</c:v>
                </c:pt>
                <c:pt idx="6">
                  <c:v>Oncology</c:v>
                </c:pt>
                <c:pt idx="7">
                  <c:v>Orthopedics</c:v>
                </c:pt>
                <c:pt idx="8">
                  <c:v>Pediatrics</c:v>
                </c:pt>
                <c:pt idx="9">
                  <c:v>Urology</c:v>
                </c:pt>
              </c:strCache>
            </c:strRef>
          </c:cat>
          <c:val>
            <c:numRef>
              <c:f>'patient demographics'!$B$52:$B$62</c:f>
              <c:numCache>
                <c:formatCode>0%</c:formatCode>
                <c:ptCount val="10"/>
                <c:pt idx="0">
                  <c:v>9.5500000000000002E-2</c:v>
                </c:pt>
                <c:pt idx="1">
                  <c:v>0.1007</c:v>
                </c:pt>
                <c:pt idx="2">
                  <c:v>0.10150000000000001</c:v>
                </c:pt>
                <c:pt idx="3">
                  <c:v>0.1007</c:v>
                </c:pt>
                <c:pt idx="4">
                  <c:v>0.1013</c:v>
                </c:pt>
                <c:pt idx="5">
                  <c:v>0.1031</c:v>
                </c:pt>
                <c:pt idx="6">
                  <c:v>9.9000000000000005E-2</c:v>
                </c:pt>
                <c:pt idx="7">
                  <c:v>9.8500000000000004E-2</c:v>
                </c:pt>
                <c:pt idx="8">
                  <c:v>0.10100000000000001</c:v>
                </c:pt>
                <c:pt idx="9">
                  <c:v>9.8699999999999996E-2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4727-4A88-8860-622B74DE0D3A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902874720"/>
        <c:axId val="1902880000"/>
      </c:barChart>
      <c:catAx>
        <c:axId val="19028747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02880000"/>
        <c:crosses val="autoZero"/>
        <c:auto val="1"/>
        <c:lblAlgn val="ctr"/>
        <c:lblOffset val="100"/>
        <c:noMultiLvlLbl val="0"/>
      </c:catAx>
      <c:valAx>
        <c:axId val="1902880000"/>
        <c:scaling>
          <c:orientation val="minMax"/>
        </c:scaling>
        <c:delete val="1"/>
        <c:axPos val="l"/>
        <c:numFmt formatCode="0%" sourceLinked="1"/>
        <c:majorTickMark val="out"/>
        <c:minorTickMark val="none"/>
        <c:tickLblPos val="nextTo"/>
        <c:crossAx val="19028747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rotWithShape="1">
      <a:gsLst>
        <a:gs pos="0">
          <a:schemeClr val="accent3">
            <a:tint val="50000"/>
            <a:satMod val="300000"/>
          </a:schemeClr>
        </a:gs>
        <a:gs pos="35000">
          <a:schemeClr val="accent3">
            <a:tint val="37000"/>
            <a:satMod val="300000"/>
          </a:schemeClr>
        </a:gs>
        <a:gs pos="100000">
          <a:schemeClr val="accent3">
            <a:tint val="15000"/>
            <a:satMod val="350000"/>
          </a:schemeClr>
        </a:gs>
      </a:gsLst>
      <a:lin ang="16200000" scaled="1"/>
    </a:gradFill>
    <a:ln w="9525" cap="flat" cmpd="sng" algn="ctr">
      <a:solidFill>
        <a:schemeClr val="accent3">
          <a:shade val="95000"/>
          <a:satMod val="105000"/>
        </a:schemeClr>
      </a:solidFill>
      <a:prstDash val="solid"/>
      <a:round/>
    </a:ln>
    <a:effectLst>
      <a:outerShdw blurRad="40000" dist="20000" dir="5400000" rotWithShape="0">
        <a:srgbClr val="000000">
          <a:alpha val="38000"/>
        </a:srgbClr>
      </a:outerShdw>
    </a:effectLst>
  </c:spPr>
  <c:txPr>
    <a:bodyPr/>
    <a:lstStyle/>
    <a:p>
      <a:pPr>
        <a:defRPr>
          <a:solidFill>
            <a:schemeClr val="dk1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[Health care Dashboards.xlsx]revenue cost dept!PivotTable3</c:name>
    <c:fmtId val="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800" b="0" i="0" u="none" strike="noStrike" kern="1200" spc="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r>
              <a:rPr lang="en-US" sz="2800" dirty="0"/>
              <a:t>Hospital</a:t>
            </a:r>
            <a:r>
              <a:rPr lang="en-US" sz="2800" baseline="0" dirty="0"/>
              <a:t> </a:t>
            </a:r>
            <a:r>
              <a:rPr lang="en-US" sz="2800" dirty="0"/>
              <a:t>Branches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800" b="0" i="0" u="none" strike="noStrike" kern="1200" spc="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28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dLbl>
          <c:idx val="0"/>
          <c:layout>
            <c:manualLayout>
              <c:x val="3.1039496987880753E-2"/>
              <c:y val="1.1914879586324749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28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dLbl>
          <c:idx val="0"/>
          <c:layout>
            <c:manualLayout>
              <c:x val="-0.12069442570570117"/>
              <c:y val="8.4350116340479384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28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dLbl>
          <c:idx val="0"/>
          <c:layout>
            <c:manualLayout>
              <c:x val="8.164542122438824E-2"/>
              <c:y val="5.5605899716537642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28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dLbl>
          <c:idx val="0"/>
          <c:layout>
            <c:manualLayout>
              <c:x val="6.5417170180168654E-2"/>
              <c:y val="-3.3105267103459311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28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28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dLbl>
          <c:idx val="0"/>
          <c:layout>
            <c:manualLayout>
              <c:x val="3.1039496987880753E-2"/>
              <c:y val="1.1914879586324749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28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dLbl>
          <c:idx val="0"/>
          <c:layout>
            <c:manualLayout>
              <c:x val="-0.12069442570570117"/>
              <c:y val="8.4350116340479384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28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dLbl>
          <c:idx val="0"/>
          <c:layout>
            <c:manualLayout>
              <c:x val="8.164542122438824E-2"/>
              <c:y val="5.5605899716537642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28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dLbl>
          <c:idx val="0"/>
          <c:layout>
            <c:manualLayout>
              <c:x val="6.5417170180168654E-2"/>
              <c:y val="-3.3105267103459311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28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28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dLbl>
          <c:idx val="0"/>
          <c:layout>
            <c:manualLayout>
              <c:x val="3.1039496987880753E-2"/>
              <c:y val="1.1914879586324749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28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dLbl>
          <c:idx val="0"/>
          <c:layout>
            <c:manualLayout>
              <c:x val="-0.12069442570570117"/>
              <c:y val="8.4350116340479384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28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dLbl>
          <c:idx val="0"/>
          <c:layout>
            <c:manualLayout>
              <c:x val="8.164542122438824E-2"/>
              <c:y val="5.5605899716537642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28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dLbl>
          <c:idx val="0"/>
          <c:layout>
            <c:manualLayout>
              <c:x val="6.5417170180168654E-2"/>
              <c:y val="-3.3105267103459311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28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3.2699856728922123E-2"/>
          <c:y val="0.23462176695407383"/>
          <c:w val="0.70917306402488356"/>
          <c:h val="0.71992169837570863"/>
        </c:manualLayout>
      </c:layout>
      <c:pie3DChart>
        <c:varyColors val="1"/>
        <c:ser>
          <c:idx val="0"/>
          <c:order val="0"/>
          <c:tx>
            <c:strRef>
              <c:f>'revenue cost dept'!$B$32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13BC-45B3-A371-A439AF418086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13BC-45B3-A371-A439AF418086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13BC-45B3-A371-A439AF418086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13BC-45B3-A371-A439AF418086}"/>
              </c:ext>
            </c:extLst>
          </c:dPt>
          <c:dLbls>
            <c:dLbl>
              <c:idx val="0"/>
              <c:layout>
                <c:manualLayout>
                  <c:x val="3.1039496987880753E-2"/>
                  <c:y val="1.1914879586324749E-2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3BC-45B3-A371-A439AF418086}"/>
                </c:ext>
              </c:extLst>
            </c:dLbl>
            <c:dLbl>
              <c:idx val="1"/>
              <c:layout>
                <c:manualLayout>
                  <c:x val="-0.12069442570570117"/>
                  <c:y val="8.4350116340479384E-2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3BC-45B3-A371-A439AF418086}"/>
                </c:ext>
              </c:extLst>
            </c:dLbl>
            <c:dLbl>
              <c:idx val="2"/>
              <c:layout>
                <c:manualLayout>
                  <c:x val="8.164542122438824E-2"/>
                  <c:y val="5.5605899716537642E-2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3BC-45B3-A371-A439AF418086}"/>
                </c:ext>
              </c:extLst>
            </c:dLbl>
            <c:dLbl>
              <c:idx val="3"/>
              <c:layout>
                <c:manualLayout>
                  <c:x val="6.5417170180168654E-2"/>
                  <c:y val="-3.3105267103459311E-2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13BC-45B3-A371-A439AF41808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3200" b="0" i="0" u="none" strike="noStrike" kern="1200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'revenue cost dept'!$A$33:$A$37</c:f>
              <c:strCache>
                <c:ptCount val="4"/>
                <c:pt idx="0">
                  <c:v>Branch A</c:v>
                </c:pt>
                <c:pt idx="1">
                  <c:v>Branch B</c:v>
                </c:pt>
                <c:pt idx="2">
                  <c:v>Branch C</c:v>
                </c:pt>
                <c:pt idx="3">
                  <c:v>Branch D</c:v>
                </c:pt>
              </c:strCache>
            </c:strRef>
          </c:cat>
          <c:val>
            <c:numRef>
              <c:f>'revenue cost dept'!$B$33:$B$37</c:f>
              <c:numCache>
                <c:formatCode>0%</c:formatCode>
                <c:ptCount val="4"/>
                <c:pt idx="0">
                  <c:v>0.25898738202904753</c:v>
                </c:pt>
                <c:pt idx="1">
                  <c:v>0.24430584325617055</c:v>
                </c:pt>
                <c:pt idx="2">
                  <c:v>0.24264872847011124</c:v>
                </c:pt>
                <c:pt idx="3">
                  <c:v>0.25405804624467065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3BC-45B3-A371-A439AF41808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gradFill rotWithShape="1">
          <a:gsLst>
            <a:gs pos="0">
              <a:schemeClr val="accent3">
                <a:lumMod val="110000"/>
                <a:satMod val="105000"/>
                <a:tint val="67000"/>
              </a:schemeClr>
            </a:gs>
            <a:gs pos="50000">
              <a:schemeClr val="accent3">
                <a:lumMod val="105000"/>
                <a:satMod val="103000"/>
                <a:tint val="73000"/>
              </a:schemeClr>
            </a:gs>
            <a:gs pos="100000">
              <a:schemeClr val="accent3">
                <a:lumMod val="105000"/>
                <a:satMod val="109000"/>
                <a:tint val="81000"/>
              </a:schemeClr>
            </a:gs>
          </a:gsLst>
          <a:lin ang="5400000" scaled="0"/>
        </a:gradFill>
        <a:ln w="12700" cap="flat" cmpd="sng" algn="ctr">
          <a:noFill/>
          <a:prstDash val="solid"/>
          <a:miter lim="800000"/>
        </a:ln>
        <a:effectLst/>
      </c:spPr>
    </c:plotArea>
    <c:legend>
      <c:legendPos val="r"/>
      <c:layout>
        <c:manualLayout>
          <c:xMode val="edge"/>
          <c:yMode val="edge"/>
          <c:x val="0.7225368735554033"/>
          <c:y val="0.47925756231905531"/>
          <c:w val="0.25529437203839295"/>
          <c:h val="0.4213466223275184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rotWithShape="1">
      <a:gsLst>
        <a:gs pos="0">
          <a:schemeClr val="accent3">
            <a:lumMod val="110000"/>
            <a:satMod val="105000"/>
            <a:tint val="67000"/>
          </a:schemeClr>
        </a:gs>
        <a:gs pos="50000">
          <a:schemeClr val="accent3">
            <a:lumMod val="105000"/>
            <a:satMod val="103000"/>
            <a:tint val="73000"/>
          </a:schemeClr>
        </a:gs>
        <a:gs pos="100000">
          <a:schemeClr val="accent3">
            <a:lumMod val="105000"/>
            <a:satMod val="109000"/>
            <a:tint val="81000"/>
          </a:schemeClr>
        </a:gs>
      </a:gsLst>
      <a:lin ang="5400000" scaled="0"/>
    </a:gradFill>
    <a:ln w="12700" cap="flat" cmpd="sng" algn="ctr">
      <a:solidFill>
        <a:schemeClr val="accent3"/>
      </a:solidFill>
      <a:prstDash val="solid"/>
      <a:miter lim="800000"/>
    </a:ln>
    <a:effectLst/>
  </c:spPr>
  <c:txPr>
    <a:bodyPr/>
    <a:lstStyle/>
    <a:p>
      <a:pPr>
        <a:defRPr>
          <a:solidFill>
            <a:schemeClr val="dk1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[Health care Dashboards.xlsx]revenue cost dept!PivotTable6</c:name>
    <c:fmtId val="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Admissions Percentage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rgbClr val="FF3399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2800" b="1" i="0" u="none" strike="noStrike" kern="1200" baseline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rgbClr val="FF3399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layout>
            <c:manualLayout>
              <c:x val="-9.5647639517768737E-2"/>
              <c:y val="6.9234280842117982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2800" b="1" i="0" u="none" strike="noStrike" kern="1200" baseline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rgbClr val="FF3399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2800" b="1" i="0" u="none" strike="noStrike" kern="1200" baseline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rgbClr val="FF3399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layout>
            <c:manualLayout>
              <c:x val="-9.5647639517768737E-2"/>
              <c:y val="6.9234280842117982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2800" b="1" i="0" u="none" strike="noStrike" kern="1200" baseline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rgbClr val="FF3399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2800" b="1" i="0" u="none" strike="noStrike" kern="1200" baseline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rgbClr val="FF3399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layout>
            <c:manualLayout>
              <c:x val="-9.5647639517768737E-2"/>
              <c:y val="6.9234280842117982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2800" b="1" i="0" u="none" strike="noStrike" kern="1200" baseline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6286099848745397"/>
          <c:y val="0.24238527975187527"/>
          <c:w val="0.63984018609579341"/>
          <c:h val="0.52999928094831794"/>
        </c:manualLayout>
      </c:layout>
      <c:lineChart>
        <c:grouping val="standard"/>
        <c:varyColors val="0"/>
        <c:ser>
          <c:idx val="0"/>
          <c:order val="0"/>
          <c:tx>
            <c:strRef>
              <c:f>'revenue cost dept'!$B$70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FF3399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1"/>
            <c:marker>
              <c:symbol val="circle"/>
              <c:size val="5"/>
              <c:spPr>
                <a:solidFill>
                  <a:srgbClr val="FF3399"/>
                </a:solidFill>
                <a:ln w="9525">
                  <a:solidFill>
                    <a:schemeClr val="accent1"/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1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07A5-4321-B51C-9E245435A0C2}"/>
              </c:ext>
            </c:extLst>
          </c:dPt>
          <c:dLbls>
            <c:dLbl>
              <c:idx val="1"/>
              <c:layout>
                <c:manualLayout>
                  <c:x val="-9.5647639517768737E-2"/>
                  <c:y val="6.9234280842117982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7A5-4321-B51C-9E245435A0C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4000" b="0" i="0" u="none" strike="noStrike" kern="1200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'revenue cost dept'!$A$71:$A$74</c:f>
              <c:strCache>
                <c:ptCount val="3"/>
                <c:pt idx="0">
                  <c:v>Emergency</c:v>
                </c:pt>
                <c:pt idx="1">
                  <c:v>Inpatient</c:v>
                </c:pt>
                <c:pt idx="2">
                  <c:v>OPD</c:v>
                </c:pt>
              </c:strCache>
            </c:strRef>
          </c:cat>
          <c:val>
            <c:numRef>
              <c:f>'revenue cost dept'!$B$71:$B$74</c:f>
              <c:numCache>
                <c:formatCode>0%</c:formatCode>
                <c:ptCount val="3"/>
                <c:pt idx="0">
                  <c:v>0.33915011599050399</c:v>
                </c:pt>
                <c:pt idx="1">
                  <c:v>0.30469370855983702</c:v>
                </c:pt>
                <c:pt idx="2">
                  <c:v>0.35615617544965905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7A5-4321-B51C-9E245435A0C2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051091007"/>
        <c:axId val="1051091967"/>
      </c:lineChart>
      <c:catAx>
        <c:axId val="105109100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800" b="0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51091967"/>
        <c:crosses val="autoZero"/>
        <c:auto val="1"/>
        <c:lblAlgn val="ctr"/>
        <c:lblOffset val="100"/>
        <c:noMultiLvlLbl val="0"/>
      </c:catAx>
      <c:valAx>
        <c:axId val="1051091967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105109100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rotWithShape="1">
      <a:gsLst>
        <a:gs pos="0">
          <a:schemeClr val="accent3">
            <a:lumMod val="110000"/>
            <a:satMod val="105000"/>
            <a:tint val="67000"/>
          </a:schemeClr>
        </a:gs>
        <a:gs pos="50000">
          <a:schemeClr val="accent3">
            <a:lumMod val="105000"/>
            <a:satMod val="103000"/>
            <a:tint val="73000"/>
          </a:schemeClr>
        </a:gs>
        <a:gs pos="100000">
          <a:schemeClr val="accent3">
            <a:lumMod val="105000"/>
            <a:satMod val="109000"/>
            <a:tint val="81000"/>
          </a:schemeClr>
        </a:gs>
      </a:gsLst>
      <a:lin ang="5400000" scaled="0"/>
    </a:gradFill>
    <a:ln w="12700" cap="flat" cmpd="sng" algn="ctr">
      <a:solidFill>
        <a:schemeClr val="accent3"/>
      </a:solidFill>
      <a:prstDash val="solid"/>
      <a:miter lim="800000"/>
    </a:ln>
    <a:effectLst/>
  </c:spPr>
  <c:txPr>
    <a:bodyPr/>
    <a:lstStyle/>
    <a:p>
      <a:pPr>
        <a:defRPr>
          <a:solidFill>
            <a:schemeClr val="dk1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[Health care Dashboards.xlsx]revenue cost dept!PivotTable4</c:name>
    <c:fmtId val="12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800" b="0" i="0" u="none" strike="noStrike" kern="1200" spc="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r>
              <a:rPr lang="en-US" sz="2800" dirty="0"/>
              <a:t>City Wise Revenue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800" b="0" i="0" u="none" strike="noStrike" kern="1200" spc="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rgbClr val="FF3399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24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rgbClr val="FF3399"/>
          </a:solidFill>
          <a:ln>
            <a:noFill/>
          </a:ln>
          <a:effectLst/>
        </c:spPr>
        <c:dLbl>
          <c:idx val="0"/>
          <c:layout>
            <c:manualLayout>
              <c:x val="2.0419755580244419E-3"/>
              <c:y val="-1.2644578811071115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24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rgbClr val="FF3399"/>
          </a:solidFill>
          <a:ln>
            <a:noFill/>
          </a:ln>
          <a:effectLst/>
        </c:spPr>
      </c:pivotFmt>
      <c:pivotFmt>
        <c:idx val="3"/>
        <c:spPr>
          <a:solidFill>
            <a:srgbClr val="FF3399"/>
          </a:solidFill>
          <a:ln>
            <a:noFill/>
          </a:ln>
          <a:effectLst/>
        </c:spPr>
      </c:pivotFmt>
      <c:pivotFmt>
        <c:idx val="4"/>
        <c:spPr>
          <a:solidFill>
            <a:srgbClr val="FF3399"/>
          </a:solidFill>
          <a:ln>
            <a:noFill/>
          </a:ln>
          <a:effectLst/>
        </c:spPr>
        <c:dLbl>
          <c:idx val="0"/>
          <c:layout>
            <c:manualLayout>
              <c:x val="-8.1423257343309092E-3"/>
              <c:y val="-2.1773882176894448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24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rgbClr val="FF3399"/>
          </a:solidFill>
          <a:ln>
            <a:noFill/>
          </a:ln>
          <a:effectLst/>
        </c:spPr>
        <c:dLbl>
          <c:idx val="0"/>
          <c:layout>
            <c:manualLayout>
              <c:x val="-6.1672962327038424E-3"/>
              <c:y val="0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24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rgbClr val="FF3399"/>
          </a:solidFill>
          <a:ln>
            <a:noFill/>
          </a:ln>
          <a:effectLst/>
        </c:spPr>
        <c:dLbl>
          <c:idx val="0"/>
          <c:layout>
            <c:manualLayout>
              <c:x val="-2.0626603373397378E-3"/>
              <c:y val="4.2148596036903586E-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24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rgbClr val="FF3399"/>
          </a:solidFill>
          <a:ln>
            <a:noFill/>
          </a:ln>
          <a:effectLst/>
        </c:spPr>
        <c:dLbl>
          <c:idx val="0"/>
          <c:layout>
            <c:manualLayout>
              <c:x val="-6.1672962327038424E-3"/>
              <c:y val="-4.2148596036903586E-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24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rgbClr val="FF3399"/>
          </a:solidFill>
          <a:ln>
            <a:noFill/>
          </a:ln>
          <a:effectLst/>
        </c:spPr>
        <c:dLbl>
          <c:idx val="0"/>
          <c:layout>
            <c:manualLayout>
              <c:x val="2.6936310779841797E-2"/>
              <c:y val="-2.5423141735379032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24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rgbClr val="FF3399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24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rgbClr val="FF3399"/>
          </a:solidFill>
          <a:ln>
            <a:noFill/>
          </a:ln>
          <a:effectLst/>
        </c:spPr>
      </c:pivotFmt>
      <c:pivotFmt>
        <c:idx val="11"/>
        <c:spPr>
          <a:solidFill>
            <a:srgbClr val="FF3399"/>
          </a:solidFill>
          <a:ln>
            <a:noFill/>
          </a:ln>
          <a:effectLst/>
        </c:spPr>
        <c:dLbl>
          <c:idx val="0"/>
          <c:layout>
            <c:manualLayout>
              <c:x val="-6.1672962327038424E-3"/>
              <c:y val="-4.2148596036903586E-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24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rgbClr val="FF3399"/>
          </a:solidFill>
          <a:ln>
            <a:noFill/>
          </a:ln>
          <a:effectLst/>
        </c:spPr>
        <c:dLbl>
          <c:idx val="0"/>
          <c:layout>
            <c:manualLayout>
              <c:x val="-2.0626603373397378E-3"/>
              <c:y val="4.2148596036903586E-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24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rgbClr val="FF3399"/>
          </a:solidFill>
          <a:ln>
            <a:noFill/>
          </a:ln>
          <a:effectLst/>
        </c:spPr>
        <c:dLbl>
          <c:idx val="0"/>
          <c:layout>
            <c:manualLayout>
              <c:x val="-6.1672962327038424E-3"/>
              <c:y val="0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24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rgbClr val="FF3399"/>
          </a:solidFill>
          <a:ln>
            <a:noFill/>
          </a:ln>
          <a:effectLst/>
        </c:spPr>
        <c:dLbl>
          <c:idx val="0"/>
          <c:layout>
            <c:manualLayout>
              <c:x val="-8.1423257343309092E-3"/>
              <c:y val="-2.1773882176894448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24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rgbClr val="FF3399"/>
          </a:solidFill>
          <a:ln>
            <a:noFill/>
          </a:ln>
          <a:effectLst/>
        </c:spPr>
        <c:dLbl>
          <c:idx val="0"/>
          <c:layout>
            <c:manualLayout>
              <c:x val="2.0419755580244419E-3"/>
              <c:y val="-1.2644578811071115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24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rgbClr val="FF3399"/>
          </a:solidFill>
          <a:ln>
            <a:noFill/>
          </a:ln>
          <a:effectLst/>
        </c:spPr>
        <c:dLbl>
          <c:idx val="0"/>
          <c:layout>
            <c:manualLayout>
              <c:x val="2.6936310779841797E-2"/>
              <c:y val="-2.5423141735379032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24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rgbClr val="FF3399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24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rgbClr val="FF3399"/>
          </a:solidFill>
          <a:ln>
            <a:noFill/>
          </a:ln>
          <a:effectLst/>
        </c:spPr>
      </c:pivotFmt>
      <c:pivotFmt>
        <c:idx val="19"/>
        <c:spPr>
          <a:solidFill>
            <a:srgbClr val="FF3399"/>
          </a:solidFill>
          <a:ln>
            <a:noFill/>
          </a:ln>
          <a:effectLst/>
        </c:spPr>
        <c:dLbl>
          <c:idx val="0"/>
          <c:layout>
            <c:manualLayout>
              <c:x val="-6.1672962327038424E-3"/>
              <c:y val="-4.2148596036903586E-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24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rgbClr val="FF3399"/>
          </a:solidFill>
          <a:ln>
            <a:noFill/>
          </a:ln>
          <a:effectLst/>
        </c:spPr>
        <c:dLbl>
          <c:idx val="0"/>
          <c:layout>
            <c:manualLayout>
              <c:x val="-2.0626603373397378E-3"/>
              <c:y val="4.2148596036903586E-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24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rgbClr val="FF3399"/>
          </a:solidFill>
          <a:ln>
            <a:noFill/>
          </a:ln>
          <a:effectLst/>
        </c:spPr>
        <c:dLbl>
          <c:idx val="0"/>
          <c:layout>
            <c:manualLayout>
              <c:x val="-6.1672962327038424E-3"/>
              <c:y val="0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24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solidFill>
            <a:srgbClr val="FF3399"/>
          </a:solidFill>
          <a:ln>
            <a:noFill/>
          </a:ln>
          <a:effectLst/>
        </c:spPr>
        <c:dLbl>
          <c:idx val="0"/>
          <c:layout>
            <c:manualLayout>
              <c:x val="-8.1423257343309092E-3"/>
              <c:y val="-2.1773882176894448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24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rgbClr val="FF3399"/>
          </a:solidFill>
          <a:ln>
            <a:noFill/>
          </a:ln>
          <a:effectLst/>
        </c:spPr>
        <c:dLbl>
          <c:idx val="0"/>
          <c:layout>
            <c:manualLayout>
              <c:x val="2.0419755580244419E-3"/>
              <c:y val="-1.2644578811071115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24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solidFill>
            <a:srgbClr val="FF3399"/>
          </a:solidFill>
          <a:ln>
            <a:noFill/>
          </a:ln>
          <a:effectLst/>
        </c:spPr>
        <c:dLbl>
          <c:idx val="0"/>
          <c:layout>
            <c:manualLayout>
              <c:x val="2.6936310779841797E-2"/>
              <c:y val="-2.5423141735379032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24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22387848003989474"/>
          <c:y val="0.26053788647115628"/>
          <c:w val="0.5758553536605393"/>
          <c:h val="0.70821111936786085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'revenue cost dept'!$B$40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FF3399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339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EA6E-40B4-9CD0-2F83280ED5A9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2-EA6E-40B4-9CD0-2F83280ED5A9}"/>
              </c:ext>
            </c:extLst>
          </c:dPt>
          <c:dPt>
            <c:idx val="3"/>
            <c:invertIfNegative val="0"/>
            <c:bubble3D val="0"/>
            <c:spPr>
              <a:solidFill>
                <a:srgbClr val="FF339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EA6E-40B4-9CD0-2F83280ED5A9}"/>
              </c:ext>
            </c:extLst>
          </c:dPt>
          <c:dPt>
            <c:idx val="4"/>
            <c:invertIfNegative val="0"/>
            <c:bubble3D val="0"/>
            <c:spPr>
              <a:solidFill>
                <a:srgbClr val="FF339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EA6E-40B4-9CD0-2F83280ED5A9}"/>
              </c:ext>
            </c:extLst>
          </c:dPt>
          <c:dPt>
            <c:idx val="5"/>
            <c:invertIfNegative val="0"/>
            <c:bubble3D val="0"/>
            <c:spPr>
              <a:solidFill>
                <a:srgbClr val="FF339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EA6E-40B4-9CD0-2F83280ED5A9}"/>
              </c:ext>
            </c:extLst>
          </c:dPt>
          <c:dPt>
            <c:idx val="6"/>
            <c:invertIfNegative val="0"/>
            <c:bubble3D val="0"/>
            <c:spPr>
              <a:solidFill>
                <a:srgbClr val="FF339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A-EA6E-40B4-9CD0-2F83280ED5A9}"/>
              </c:ext>
            </c:extLst>
          </c:dPt>
          <c:dPt>
            <c:idx val="7"/>
            <c:invertIfNegative val="0"/>
            <c:bubble3D val="0"/>
            <c:spPr>
              <a:solidFill>
                <a:srgbClr val="FF339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C-EA6E-40B4-9CD0-2F83280ED5A9}"/>
              </c:ext>
            </c:extLst>
          </c:dPt>
          <c:dPt>
            <c:idx val="9"/>
            <c:invertIfNegative val="0"/>
            <c:bubble3D val="0"/>
            <c:spPr>
              <a:solidFill>
                <a:srgbClr val="FF339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E-EA6E-40B4-9CD0-2F83280ED5A9}"/>
              </c:ext>
            </c:extLst>
          </c:dPt>
          <c:dLbls>
            <c:dLbl>
              <c:idx val="3"/>
              <c:layout>
                <c:manualLayout>
                  <c:x val="-6.1672962327038424E-3"/>
                  <c:y val="-4.214859603690358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EA6E-40B4-9CD0-2F83280ED5A9}"/>
                </c:ext>
              </c:extLst>
            </c:dLbl>
            <c:dLbl>
              <c:idx val="4"/>
              <c:layout>
                <c:manualLayout>
                  <c:x val="-2.0626603373397378E-3"/>
                  <c:y val="4.214859603690358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EA6E-40B4-9CD0-2F83280ED5A9}"/>
                </c:ext>
              </c:extLst>
            </c:dLbl>
            <c:dLbl>
              <c:idx val="5"/>
              <c:layout>
                <c:manualLayout>
                  <c:x val="-6.1672962327038424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EA6E-40B4-9CD0-2F83280ED5A9}"/>
                </c:ext>
              </c:extLst>
            </c:dLbl>
            <c:dLbl>
              <c:idx val="6"/>
              <c:layout>
                <c:manualLayout>
                  <c:x val="-8.1423257343309092E-3"/>
                  <c:y val="-2.177388217689444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EA6E-40B4-9CD0-2F83280ED5A9}"/>
                </c:ext>
              </c:extLst>
            </c:dLbl>
            <c:dLbl>
              <c:idx val="7"/>
              <c:layout>
                <c:manualLayout>
                  <c:x val="2.0419755580244419E-3"/>
                  <c:y val="-1.264457881107111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EA6E-40B4-9CD0-2F83280ED5A9}"/>
                </c:ext>
              </c:extLst>
            </c:dLbl>
            <c:dLbl>
              <c:idx val="9"/>
              <c:layout>
                <c:manualLayout>
                  <c:x val="2.6936310779841797E-2"/>
                  <c:y val="-2.542314173537903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EA6E-40B4-9CD0-2F83280ED5A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400" b="0" i="0" u="none" strike="noStrike" kern="1200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'revenue cost dept'!$A$41:$A$51</c:f>
              <c:strCache>
                <c:ptCount val="10"/>
                <c:pt idx="0">
                  <c:v>Hyderabad</c:v>
                </c:pt>
                <c:pt idx="1">
                  <c:v>Bengaluru</c:v>
                </c:pt>
                <c:pt idx="2">
                  <c:v>Chennai</c:v>
                </c:pt>
                <c:pt idx="3">
                  <c:v>Mumbai</c:v>
                </c:pt>
                <c:pt idx="4">
                  <c:v>Delhi</c:v>
                </c:pt>
                <c:pt idx="5">
                  <c:v>Pune</c:v>
                </c:pt>
                <c:pt idx="6">
                  <c:v>Kolkata</c:v>
                </c:pt>
                <c:pt idx="7">
                  <c:v>Ahmedabad</c:v>
                </c:pt>
                <c:pt idx="8">
                  <c:v>Visakhapatnam</c:v>
                </c:pt>
                <c:pt idx="9">
                  <c:v>Jaipur</c:v>
                </c:pt>
              </c:strCache>
            </c:strRef>
          </c:cat>
          <c:val>
            <c:numRef>
              <c:f>'revenue cost dept'!$B$41:$B$51</c:f>
              <c:numCache>
                <c:formatCode>0%</c:formatCode>
                <c:ptCount val="10"/>
                <c:pt idx="0">
                  <c:v>0.15451656581114145</c:v>
                </c:pt>
                <c:pt idx="1">
                  <c:v>0.14156268574964806</c:v>
                </c:pt>
                <c:pt idx="2">
                  <c:v>0.12802817241918227</c:v>
                </c:pt>
                <c:pt idx="3">
                  <c:v>0.12623172703088639</c:v>
                </c:pt>
                <c:pt idx="4">
                  <c:v>9.6073977452866707E-2</c:v>
                </c:pt>
                <c:pt idx="5">
                  <c:v>8.840215870908881E-2</c:v>
                </c:pt>
                <c:pt idx="6">
                  <c:v>8.1521234651830587E-2</c:v>
                </c:pt>
                <c:pt idx="7">
                  <c:v>6.9189724724112445E-2</c:v>
                </c:pt>
                <c:pt idx="8">
                  <c:v>5.7338735112982771E-2</c:v>
                </c:pt>
                <c:pt idx="9">
                  <c:v>5.7135018338260492E-2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EA6E-40B4-9CD0-2F83280ED5A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846480767"/>
        <c:axId val="846481727"/>
      </c:barChart>
      <c:catAx>
        <c:axId val="84648076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46481727"/>
        <c:crosses val="autoZero"/>
        <c:auto val="1"/>
        <c:lblAlgn val="ctr"/>
        <c:lblOffset val="100"/>
        <c:noMultiLvlLbl val="0"/>
      </c:catAx>
      <c:valAx>
        <c:axId val="846481727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84648076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rotWithShape="1">
      <a:gsLst>
        <a:gs pos="0">
          <a:schemeClr val="accent3">
            <a:lumMod val="110000"/>
            <a:satMod val="105000"/>
            <a:tint val="67000"/>
          </a:schemeClr>
        </a:gs>
        <a:gs pos="50000">
          <a:schemeClr val="accent3">
            <a:lumMod val="105000"/>
            <a:satMod val="103000"/>
            <a:tint val="73000"/>
          </a:schemeClr>
        </a:gs>
        <a:gs pos="100000">
          <a:schemeClr val="accent3">
            <a:lumMod val="105000"/>
            <a:satMod val="109000"/>
            <a:tint val="81000"/>
          </a:schemeClr>
        </a:gs>
      </a:gsLst>
      <a:lin ang="5400000" scaled="0"/>
    </a:gradFill>
    <a:ln w="12700" cap="flat" cmpd="sng" algn="ctr">
      <a:solidFill>
        <a:schemeClr val="accent3"/>
      </a:solidFill>
      <a:prstDash val="solid"/>
      <a:miter lim="800000"/>
    </a:ln>
    <a:effectLst/>
  </c:spPr>
  <c:txPr>
    <a:bodyPr/>
    <a:lstStyle/>
    <a:p>
      <a:pPr>
        <a:defRPr>
          <a:solidFill>
            <a:schemeClr val="dk1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pivotSource>
    <c:name>[Health care Dashboards.xlsx]Diagnosis,Health Trends&amp;insuren!PivotTable9</c:name>
    <c:fmtId val="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4000" b="0" i="0" u="none" strike="noStrike" kern="1200" spc="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r>
              <a:rPr lang="en-US" sz="4000"/>
              <a:t>Diagnosis Wise Percentage</a:t>
            </a:r>
          </a:p>
        </c:rich>
      </c:tx>
      <c:layout>
        <c:manualLayout>
          <c:xMode val="edge"/>
          <c:yMode val="edge"/>
          <c:x val="0.2030000926952879"/>
          <c:y val="2.719160104986876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4000" b="0" i="0" u="none" strike="noStrike" kern="1200" spc="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3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2400" b="1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3"/>
          </a:solidFill>
          <a:ln>
            <a:noFill/>
          </a:ln>
          <a:effectLst/>
        </c:spPr>
        <c:dLbl>
          <c:idx val="0"/>
          <c:layout>
            <c:manualLayout>
              <c:x val="9.2284992770706124E-3"/>
              <c:y val="9.6459920902864631E-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2400" b="1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3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2400" b="1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3"/>
          </a:solidFill>
          <a:ln>
            <a:noFill/>
          </a:ln>
          <a:effectLst/>
        </c:spPr>
        <c:dLbl>
          <c:idx val="0"/>
          <c:layout>
            <c:manualLayout>
              <c:x val="9.2284992770706124E-3"/>
              <c:y val="9.6459920902864631E-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2400" b="1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3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2400" b="1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3"/>
          </a:solidFill>
          <a:ln>
            <a:noFill/>
          </a:ln>
          <a:effectLst/>
        </c:spPr>
        <c:dLbl>
          <c:idx val="0"/>
          <c:layout>
            <c:manualLayout>
              <c:x val="9.2284992770706124E-3"/>
              <c:y val="9.6459920902864631E-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2400" b="1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2.0117995829889226E-2"/>
          <c:y val="0.22654422110491437"/>
          <c:w val="0.96264585615501297"/>
          <c:h val="0.6935428663941967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'Diagnosis,Health Trends&amp;insuren'!$B$3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Lbl>
              <c:idx val="2"/>
              <c:layout>
                <c:manualLayout>
                  <c:x val="9.2284992770706124E-3"/>
                  <c:y val="9.6459920902864631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1944-4B76-AB4F-1721E2A5689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3200" b="0" i="0" u="none" strike="noStrike" kern="1200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'Diagnosis,Health Trends&amp;insuren'!$A$4:$A$16</c:f>
              <c:strCache>
                <c:ptCount val="12"/>
                <c:pt idx="0">
                  <c:v>Asthma</c:v>
                </c:pt>
                <c:pt idx="1">
                  <c:v>BP</c:v>
                </c:pt>
                <c:pt idx="2">
                  <c:v>Cancer</c:v>
                </c:pt>
                <c:pt idx="3">
                  <c:v>Diabetes</c:v>
                </c:pt>
                <c:pt idx="4">
                  <c:v>Ear Infection</c:v>
                </c:pt>
                <c:pt idx="5">
                  <c:v>Fever</c:v>
                </c:pt>
                <c:pt idx="6">
                  <c:v>Fracture</c:v>
                </c:pt>
                <c:pt idx="7">
                  <c:v>Heart Attack</c:v>
                </c:pt>
                <c:pt idx="8">
                  <c:v>Kidney Stone</c:v>
                </c:pt>
                <c:pt idx="9">
                  <c:v>Migraine</c:v>
                </c:pt>
                <c:pt idx="10">
                  <c:v>Pregnancy</c:v>
                </c:pt>
                <c:pt idx="11">
                  <c:v>Skin Allergy</c:v>
                </c:pt>
              </c:strCache>
            </c:strRef>
          </c:cat>
          <c:val>
            <c:numRef>
              <c:f>'Diagnosis,Health Trends&amp;insuren'!$B$4:$B$16</c:f>
              <c:numCache>
                <c:formatCode>0%</c:formatCode>
                <c:ptCount val="12"/>
                <c:pt idx="0">
                  <c:v>8.4099999999999994E-2</c:v>
                </c:pt>
                <c:pt idx="1">
                  <c:v>8.48E-2</c:v>
                </c:pt>
                <c:pt idx="2">
                  <c:v>8.6800000000000002E-2</c:v>
                </c:pt>
                <c:pt idx="3">
                  <c:v>7.9299999999999995E-2</c:v>
                </c:pt>
                <c:pt idx="4">
                  <c:v>8.09E-2</c:v>
                </c:pt>
                <c:pt idx="5">
                  <c:v>8.5400000000000004E-2</c:v>
                </c:pt>
                <c:pt idx="6">
                  <c:v>8.1299999999999997E-2</c:v>
                </c:pt>
                <c:pt idx="7">
                  <c:v>8.3699999999999997E-2</c:v>
                </c:pt>
                <c:pt idx="8">
                  <c:v>8.2600000000000007E-2</c:v>
                </c:pt>
                <c:pt idx="9">
                  <c:v>8.3500000000000005E-2</c:v>
                </c:pt>
                <c:pt idx="10">
                  <c:v>8.6099999999999996E-2</c:v>
                </c:pt>
                <c:pt idx="11">
                  <c:v>8.1500000000000003E-2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A7E-46BD-83CE-FA7982F6A70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051088607"/>
        <c:axId val="1051089567"/>
      </c:barChart>
      <c:catAx>
        <c:axId val="105108860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51089567"/>
        <c:crosses val="autoZero"/>
        <c:auto val="1"/>
        <c:lblAlgn val="ctr"/>
        <c:lblOffset val="100"/>
        <c:noMultiLvlLbl val="0"/>
      </c:catAx>
      <c:valAx>
        <c:axId val="1051089567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1051088607"/>
        <c:crosses val="autoZero"/>
        <c:crossBetween val="between"/>
      </c:valAx>
      <c:spPr>
        <a:noFill/>
        <a:ln w="19050"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rotWithShape="1">
      <a:gsLst>
        <a:gs pos="0">
          <a:schemeClr val="accent3">
            <a:lumMod val="110000"/>
            <a:satMod val="105000"/>
            <a:tint val="67000"/>
          </a:schemeClr>
        </a:gs>
        <a:gs pos="50000">
          <a:schemeClr val="accent3">
            <a:lumMod val="105000"/>
            <a:satMod val="103000"/>
            <a:tint val="73000"/>
          </a:schemeClr>
        </a:gs>
        <a:gs pos="100000">
          <a:schemeClr val="accent3">
            <a:lumMod val="105000"/>
            <a:satMod val="109000"/>
            <a:tint val="81000"/>
          </a:schemeClr>
        </a:gs>
      </a:gsLst>
      <a:lin ang="5400000" scaled="0"/>
    </a:gradFill>
    <a:ln w="12700" cap="flat" cmpd="sng" algn="ctr">
      <a:solidFill>
        <a:schemeClr val="accent3"/>
      </a:solidFill>
      <a:prstDash val="solid"/>
      <a:miter lim="800000"/>
    </a:ln>
    <a:effectLst/>
  </c:spPr>
  <c:txPr>
    <a:bodyPr/>
    <a:lstStyle/>
    <a:p>
      <a:pPr>
        <a:defRPr>
          <a:solidFill>
            <a:schemeClr val="dk1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[Health care Dashboards.xlsx]Diagnosis,Health Trends&amp;insuren!PivotTable4</c:name>
    <c:fmtId val="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4000" b="0" i="0" u="none" strike="noStrike" kern="1200" spc="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r>
              <a:rPr lang="en-US" sz="4000"/>
              <a:t>Payment Mode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4000" b="0" i="0" u="none" strike="noStrike" kern="1200" spc="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2400" b="1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7.1943313712318754E-2"/>
              <c:y val="-0.12174163778737737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2400" b="1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7.4333559077241901E-2"/>
              <c:y val="7.2158280596046134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2400" b="1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layout>
                <c:manualLayout>
                  <c:w val="7.6457085091561877E-2"/>
                  <c:h val="0.13430499136880547"/>
                </c:manualLayout>
              </c15:layout>
            </c:ext>
          </c:extLst>
        </c:dLbl>
      </c:pivotFmt>
      <c:pivotFmt>
        <c:idx val="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8.5867826043735399E-2"/>
              <c:y val="8.2784313695416611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2400" b="1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8.1226230565072083E-2"/>
              <c:y val="-8.7653787487797077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2400" b="1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layout>
                <c:manualLayout>
                  <c:w val="7.6457085091561877E-2"/>
                  <c:h val="0.15088677759279012"/>
                </c:manualLayout>
              </c15:layout>
            </c:ext>
          </c:extLst>
        </c:dLbl>
      </c:pivotFmt>
      <c:pivotFmt>
        <c:idx val="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2400" b="1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7.1943313712318754E-2"/>
              <c:y val="-0.12174163778737737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2400" b="1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7.4333559077241901E-2"/>
              <c:y val="7.2158280596046134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2400" b="1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layout>
                <c:manualLayout>
                  <c:w val="7.6457085091561877E-2"/>
                  <c:h val="0.13430499136880547"/>
                </c:manualLayout>
              </c15:layout>
            </c:ext>
          </c:extLst>
        </c:dLbl>
      </c:pivotFmt>
      <c:pivotFmt>
        <c:idx val="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8.5867826043735399E-2"/>
              <c:y val="8.2784313695416611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2400" b="1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8.1226230565072083E-2"/>
              <c:y val="-8.7653787487797077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2400" b="1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layout>
                <c:manualLayout>
                  <c:w val="7.6457085091561877E-2"/>
                  <c:h val="0.15088677759279012"/>
                </c:manualLayout>
              </c15:layout>
            </c:ext>
          </c:extLst>
        </c:dLbl>
      </c:pivotFmt>
      <c:pivotFmt>
        <c:idx val="1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2400" b="1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7.1943313712318754E-2"/>
              <c:y val="-0.12174163778737737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2400" b="1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7.4333559077241901E-2"/>
              <c:y val="7.2158280596046134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2400" b="1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layout>
                <c:manualLayout>
                  <c:w val="7.6457085091561877E-2"/>
                  <c:h val="0.13430499136880547"/>
                </c:manualLayout>
              </c15:layout>
            </c:ext>
          </c:extLst>
        </c:dLbl>
      </c:pivotFmt>
      <c:pivotFmt>
        <c:idx val="1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8.5867826043735399E-2"/>
              <c:y val="8.2784313695416611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2400" b="1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8.1226230565072083E-2"/>
              <c:y val="-8.7653787487797077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2400" b="1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layout>
                <c:manualLayout>
                  <c:w val="7.6457085091561877E-2"/>
                  <c:h val="0.15088677759279012"/>
                </c:manualLayout>
              </c15:layout>
            </c:ext>
          </c:extLst>
        </c:dLbl>
      </c:pivotFmt>
    </c:pivotFmts>
    <c:plotArea>
      <c:layout/>
      <c:doughnutChart>
        <c:varyColors val="1"/>
        <c:ser>
          <c:idx val="0"/>
          <c:order val="0"/>
          <c:tx>
            <c:strRef>
              <c:f>'Diagnosis,Health Trends&amp;insuren'!$B$52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AE8C-4262-B140-A55A9DF7B648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AE8C-4262-B140-A55A9DF7B648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AE8C-4262-B140-A55A9DF7B648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AE8C-4262-B140-A55A9DF7B648}"/>
              </c:ext>
            </c:extLst>
          </c:dPt>
          <c:dLbls>
            <c:dLbl>
              <c:idx val="0"/>
              <c:layout>
                <c:manualLayout>
                  <c:x val="7.1943313712318754E-2"/>
                  <c:y val="-0.1217416377873773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E8C-4262-B140-A55A9DF7B648}"/>
                </c:ext>
              </c:extLst>
            </c:dLbl>
            <c:dLbl>
              <c:idx val="1"/>
              <c:layout>
                <c:manualLayout>
                  <c:x val="7.4333559077241901E-2"/>
                  <c:y val="7.215828059604613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7.6457085091561877E-2"/>
                      <c:h val="0.13430499136880547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AE8C-4262-B140-A55A9DF7B648}"/>
                </c:ext>
              </c:extLst>
            </c:dLbl>
            <c:dLbl>
              <c:idx val="2"/>
              <c:layout>
                <c:manualLayout>
                  <c:x val="-8.5867826043735399E-2"/>
                  <c:y val="8.278431369541661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E8C-4262-B140-A55A9DF7B648}"/>
                </c:ext>
              </c:extLst>
            </c:dLbl>
            <c:dLbl>
              <c:idx val="3"/>
              <c:layout>
                <c:manualLayout>
                  <c:x val="-8.1226230565072083E-2"/>
                  <c:y val="-8.765378748779707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7.6457085091561877E-2"/>
                      <c:h val="0.1508867775927901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7-AE8C-4262-B140-A55A9DF7B64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400" b="0" i="0" u="none" strike="noStrike" kern="1200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'Diagnosis,Health Trends&amp;insuren'!$A$53:$A$57</c:f>
              <c:strCache>
                <c:ptCount val="4"/>
                <c:pt idx="0">
                  <c:v>Card</c:v>
                </c:pt>
                <c:pt idx="1">
                  <c:v>Cash</c:v>
                </c:pt>
                <c:pt idx="2">
                  <c:v>Net Banking</c:v>
                </c:pt>
                <c:pt idx="3">
                  <c:v>UPI</c:v>
                </c:pt>
              </c:strCache>
            </c:strRef>
          </c:cat>
          <c:val>
            <c:numRef>
              <c:f>'Diagnosis,Health Trends&amp;insuren'!$B$53:$B$57</c:f>
              <c:numCache>
                <c:formatCode>0%</c:formatCode>
                <c:ptCount val="4"/>
                <c:pt idx="0">
                  <c:v>0.248</c:v>
                </c:pt>
                <c:pt idx="1">
                  <c:v>0.2477</c:v>
                </c:pt>
                <c:pt idx="2">
                  <c:v>0.25590000000000002</c:v>
                </c:pt>
                <c:pt idx="3">
                  <c:v>0.24840000000000001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AE8C-4262-B140-A55A9DF7B64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800" b="0" i="0" u="none" strike="noStrike" kern="120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rotWithShape="1">
      <a:gsLst>
        <a:gs pos="0">
          <a:schemeClr val="accent3">
            <a:lumMod val="110000"/>
            <a:satMod val="105000"/>
            <a:tint val="67000"/>
          </a:schemeClr>
        </a:gs>
        <a:gs pos="50000">
          <a:schemeClr val="accent3">
            <a:lumMod val="105000"/>
            <a:satMod val="103000"/>
            <a:tint val="73000"/>
          </a:schemeClr>
        </a:gs>
        <a:gs pos="100000">
          <a:schemeClr val="accent3">
            <a:lumMod val="105000"/>
            <a:satMod val="109000"/>
            <a:tint val="81000"/>
          </a:schemeClr>
        </a:gs>
      </a:gsLst>
      <a:lin ang="5400000" scaled="0"/>
    </a:gradFill>
    <a:ln w="12700" cap="flat" cmpd="sng" algn="ctr">
      <a:solidFill>
        <a:schemeClr val="accent3"/>
      </a:solidFill>
      <a:prstDash val="solid"/>
      <a:miter lim="800000"/>
    </a:ln>
    <a:effectLst/>
  </c:spPr>
  <c:txPr>
    <a:bodyPr/>
    <a:lstStyle/>
    <a:p>
      <a:pPr>
        <a:defRPr>
          <a:solidFill>
            <a:schemeClr val="dk1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[Health care Dashboards.xlsx]Diagnosis,Health Trends&amp;insuren!PivotTable6</c:name>
    <c:fmtId val="12"/>
  </c:pivotSource>
  <c:chart>
    <c:title>
      <c:tx>
        <c:rich>
          <a:bodyPr rot="0" spcFirstLastPara="1" vertOverflow="ellipsis" vert="horz" wrap="square" anchor="ctr" anchorCtr="1"/>
          <a:lstStyle/>
          <a:p>
            <a:pPr algn="ctr">
              <a:defRPr sz="3600" b="0" i="0" u="none" strike="noStrike" kern="1200" spc="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r>
              <a:rPr lang="en-US" sz="3600"/>
              <a:t>Discharge Status of Patients</a:t>
            </a:r>
          </a:p>
        </c:rich>
      </c:tx>
      <c:layout>
        <c:manualLayout>
          <c:xMode val="edge"/>
          <c:yMode val="edge"/>
          <c:x val="0.22946090620251414"/>
          <c:y val="1.123761980756476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>
            <a:defRPr sz="3600" b="0" i="0" u="none" strike="noStrike" kern="1200" spc="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2400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dLbl>
          <c:idx val="0"/>
          <c:layout>
            <c:manualLayout>
              <c:x val="1.1651455248411779E-3"/>
              <c:y val="2.299224548373071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2400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2400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dLbl>
          <c:idx val="0"/>
          <c:layout>
            <c:manualLayout>
              <c:x val="1.1651455248411779E-3"/>
              <c:y val="2.299224548373071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2400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2400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dLbl>
          <c:idx val="0"/>
          <c:layout>
            <c:manualLayout>
              <c:x val="1.1651455248411779E-3"/>
              <c:y val="2.299224548373071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2400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1.8901871443897877E-2"/>
          <c:y val="0.14466357029659085"/>
          <c:w val="0.96373284790213221"/>
          <c:h val="0.7062803160198460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'Diagnosis,Health Trends&amp;insuren'!$B$59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1.1651455248411779E-3"/>
                  <c:y val="2.299224548373071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9E58-4F15-A63C-714EAB1AEA2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1" i="0" u="none" strike="noStrike" kern="1200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'Diagnosis,Health Trends&amp;insuren'!$A$60:$A$63</c:f>
              <c:strCache>
                <c:ptCount val="3"/>
                <c:pt idx="0">
                  <c:v>Recovered</c:v>
                </c:pt>
                <c:pt idx="1">
                  <c:v>Under Treatment</c:v>
                </c:pt>
                <c:pt idx="2">
                  <c:v>Critical</c:v>
                </c:pt>
              </c:strCache>
            </c:strRef>
          </c:cat>
          <c:val>
            <c:numRef>
              <c:f>'Diagnosis,Health Trends&amp;insuren'!$B$60:$B$63</c:f>
              <c:numCache>
                <c:formatCode>0%</c:formatCode>
                <c:ptCount val="3"/>
                <c:pt idx="0">
                  <c:v>0.67879999999999996</c:v>
                </c:pt>
                <c:pt idx="1">
                  <c:v>0.27410000000000001</c:v>
                </c:pt>
                <c:pt idx="2">
                  <c:v>4.7100000000000003E-2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E58-4F15-A63C-714EAB1AEA2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982850431"/>
        <c:axId val="982848991"/>
      </c:barChart>
      <c:catAx>
        <c:axId val="98285043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82848991"/>
        <c:crosses val="autoZero"/>
        <c:auto val="1"/>
        <c:lblAlgn val="ctr"/>
        <c:lblOffset val="100"/>
        <c:noMultiLvlLbl val="0"/>
      </c:catAx>
      <c:valAx>
        <c:axId val="982848991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98285043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rotWithShape="1">
      <a:gsLst>
        <a:gs pos="0">
          <a:schemeClr val="accent3">
            <a:lumMod val="110000"/>
            <a:satMod val="105000"/>
            <a:tint val="67000"/>
          </a:schemeClr>
        </a:gs>
        <a:gs pos="50000">
          <a:schemeClr val="accent3">
            <a:lumMod val="105000"/>
            <a:satMod val="103000"/>
            <a:tint val="73000"/>
          </a:schemeClr>
        </a:gs>
        <a:gs pos="100000">
          <a:schemeClr val="accent3">
            <a:lumMod val="105000"/>
            <a:satMod val="109000"/>
            <a:tint val="81000"/>
          </a:schemeClr>
        </a:gs>
      </a:gsLst>
      <a:lin ang="5400000" scaled="0"/>
    </a:gradFill>
    <a:ln w="12700" cap="flat" cmpd="sng" algn="ctr">
      <a:solidFill>
        <a:schemeClr val="accent3"/>
      </a:solidFill>
      <a:prstDash val="solid"/>
      <a:miter lim="800000"/>
    </a:ln>
    <a:effectLst/>
  </c:spPr>
  <c:txPr>
    <a:bodyPr/>
    <a:lstStyle/>
    <a:p>
      <a:pPr>
        <a:defRPr>
          <a:solidFill>
            <a:schemeClr val="dk1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[Health care Dashboards.xlsx]Diagnosis,Health Trends&amp;insuren!PivotTable3</c:name>
    <c:fmtId val="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4800" b="0" i="0" u="none" strike="noStrike" kern="1200" spc="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r>
              <a:rPr lang="en-US" sz="4800"/>
              <a:t>Insurance Type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4800" b="0" i="0" u="none" strike="noStrike" kern="1200" spc="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2800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2800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2800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areaChart>
        <c:grouping val="standard"/>
        <c:varyColors val="0"/>
        <c:ser>
          <c:idx val="0"/>
          <c:order val="0"/>
          <c:tx>
            <c:strRef>
              <c:f>'Diagnosis,Health Trends&amp;insuren'!$F$44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4000" b="0" i="0" u="none" strike="noStrike" kern="1200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'Diagnosis,Health Trends&amp;insuren'!$E$45:$E$48</c:f>
              <c:strCache>
                <c:ptCount val="3"/>
                <c:pt idx="0">
                  <c:v>Govt</c:v>
                </c:pt>
                <c:pt idx="1">
                  <c:v>None</c:v>
                </c:pt>
                <c:pt idx="2">
                  <c:v>Private</c:v>
                </c:pt>
              </c:strCache>
            </c:strRef>
          </c:cat>
          <c:val>
            <c:numRef>
              <c:f>'Diagnosis,Health Trends&amp;insuren'!$F$45:$F$48</c:f>
              <c:numCache>
                <c:formatCode>0%</c:formatCode>
                <c:ptCount val="3"/>
                <c:pt idx="0">
                  <c:v>0.3044</c:v>
                </c:pt>
                <c:pt idx="1">
                  <c:v>0.25159999999999999</c:v>
                </c:pt>
                <c:pt idx="2">
                  <c:v>0.44400000000000001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7F4-4D99-BE85-70D88FB7007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117751775"/>
        <c:axId val="2117752255"/>
      </c:areaChart>
      <c:catAx>
        <c:axId val="2117751775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3200" b="0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17752255"/>
        <c:crosses val="autoZero"/>
        <c:auto val="1"/>
        <c:lblAlgn val="ctr"/>
        <c:lblOffset val="100"/>
        <c:noMultiLvlLbl val="0"/>
      </c:catAx>
      <c:valAx>
        <c:axId val="2117752255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2117751775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rotWithShape="1">
      <a:gsLst>
        <a:gs pos="0">
          <a:schemeClr val="accent3">
            <a:lumMod val="110000"/>
            <a:satMod val="105000"/>
            <a:tint val="67000"/>
          </a:schemeClr>
        </a:gs>
        <a:gs pos="50000">
          <a:schemeClr val="accent3">
            <a:lumMod val="105000"/>
            <a:satMod val="103000"/>
            <a:tint val="73000"/>
          </a:schemeClr>
        </a:gs>
        <a:gs pos="100000">
          <a:schemeClr val="accent3">
            <a:lumMod val="105000"/>
            <a:satMod val="109000"/>
            <a:tint val="81000"/>
          </a:schemeClr>
        </a:gs>
      </a:gsLst>
      <a:lin ang="5400000" scaled="0"/>
    </a:gradFill>
    <a:ln w="12700" cap="flat" cmpd="sng" algn="ctr">
      <a:solidFill>
        <a:schemeClr val="accent3"/>
      </a:solidFill>
      <a:prstDash val="solid"/>
      <a:miter lim="800000"/>
    </a:ln>
    <a:effectLst/>
  </c:spPr>
  <c:txPr>
    <a:bodyPr/>
    <a:lstStyle/>
    <a:p>
      <a:pPr>
        <a:defRPr>
          <a:solidFill>
            <a:schemeClr val="dk1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EBCFDE-F620-4438-AA50-C151DB3C754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8D8963-55C9-4BA8-A56A-340EE3777B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044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8D8963-55C9-4BA8-A56A-340EE3777B7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7028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F46FE-DF8A-BA02-3CFE-94BBA59588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607C8C-23CD-B0C5-D467-E4C380F06E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66895C-EC42-FF09-2605-30A3B619B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4EF812-7D9F-04C8-E61D-1929BB7DE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9FCE7-2747-84AA-1CF5-35CA4B2FD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546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599B0-70F7-31FE-E29C-68596B1BA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736ECC-828D-1650-FFC0-277F3999F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2C982-E76C-6315-D712-97B5CDEA1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01ACBE-B4EC-1639-17E5-021BE3AFE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2634CE-8EAF-8CF1-AB74-EAA5F4073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1972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5C2FA-4734-840F-77F2-81CC0DFA3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7775" y="2564608"/>
            <a:ext cx="15773400" cy="4279106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19F3F6-C0D3-3F29-B56F-F57452B909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7775" y="6884195"/>
            <a:ext cx="15773400" cy="2250281"/>
          </a:xfrm>
        </p:spPr>
        <p:txBody>
          <a:bodyPr/>
          <a:lstStyle>
            <a:lvl1pPr marL="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82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82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42138F-9D00-700C-CA37-5ACAF65C9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3CF53E-D671-86DD-5A5D-EDBE2444F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036514-07CE-5181-6069-D640236DD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640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D1675-2E69-1185-CB5A-3BCFE03E9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10B642-1676-8ABB-C97A-7E6F2C28C3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45A008-F563-AEEB-F5EA-B268C611BC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58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CCCE83-A3E5-8F5D-F13A-4FC46A78B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78A553-F1E6-00F0-02F4-379C74717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1459B3-BB75-8667-58EC-58AA5E998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0245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40C24-ED46-1359-9D9B-9B83AA379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2" y="547688"/>
            <a:ext cx="15773400" cy="198834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C3D960-EF6B-7E17-F130-6C36E5FA71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9683" y="2521745"/>
            <a:ext cx="7736681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219E3C-331E-5E12-62B1-1403D3BBE9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59683" y="3757613"/>
            <a:ext cx="7736681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EFAF4B-B292-DD8A-B952-F7BFC66F44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258300" y="2521745"/>
            <a:ext cx="7774782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1737B0-1D71-3CF6-058C-65DEE4C84C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4782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CAA7B1-7830-D7AB-B65B-2796C0B26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003793-1C34-93A2-4813-E558FAB20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FC3398-81FF-CEDA-6C19-317F4C4D0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5880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46191-C762-18D5-823B-EDDD2C7A1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BA2AB0-D898-1FE0-52C7-E79E21F56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F5E821-1F13-3685-6C05-E6CCE1C08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00F1EF-6C4E-78D6-E305-5C97F9633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2381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BE38AB-EF39-42DC-A6EA-BCB5D010B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875530-FBD8-696A-78F4-5DD3033D7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898ACD-2AA3-F388-CD42-8A44A9AB5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1290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AF9C8-BEC0-532E-C5E9-DB95048F0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EEEEE6-9C23-2924-66B9-ED2437FDF2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628451-970E-02EA-F8C5-F6B65E891F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1DDD93-04C0-E2FC-F713-3FC36BAE0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197C15-D847-2CB3-CC07-EC11BC517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79522F-BE90-AB9A-6E71-A1B0DB798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592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7A74-5F9A-5687-AFC6-6CBFD22BD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200FDB-5ABE-A5B2-605F-54B0CC03D2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9C1824-B39D-E9F0-91E9-D3B19C46B4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ECEA20-3A06-526A-5E59-635CE19B8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8AB8E5-7AC2-D919-2F52-8937A22A9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958D7E-E63C-1722-5B0C-6D51E91D7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8285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5FF7A-F96A-FF19-20A2-EB0C0462B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811075-DACD-9766-47AF-66A51B66D9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DDD418-BA72-7D27-3879-E4DB53540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1202F4-2798-5A0F-4173-58BE69AE9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843CEC-ED69-A2E5-F65A-6CA358277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7234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E1D9CB-3497-2BCD-02E4-5B80C395A8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775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3C0CA5-9F39-990B-1AA2-B63295C3A4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01450" cy="871775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242372-1DCE-06D2-F89C-A155B40A7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AE390E-B5B7-0E3E-2BF1-F1BCF70C0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A64A35-F2E2-6838-44BA-9FD756B05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266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37DD5A-8D0B-501E-B491-CD2E32CCD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0A442B-05D0-1E7C-74AB-0C86DACECD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41E405-D6B3-0E38-B6BD-122A66F195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BC71B9-8948-043E-343D-E971C6CB4B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5D8930-E4EC-9F36-B81E-B81BD1B2EA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80517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chart" Target="../charts/chart3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4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5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419533" y="8780814"/>
            <a:ext cx="839767" cy="346918"/>
          </a:xfrm>
          <a:custGeom>
            <a:avLst/>
            <a:gdLst/>
            <a:ahLst/>
            <a:cxnLst/>
            <a:rect l="l" t="t" r="r" b="b"/>
            <a:pathLst>
              <a:path w="839767" h="346918">
                <a:moveTo>
                  <a:pt x="0" y="0"/>
                </a:moveTo>
                <a:lnTo>
                  <a:pt x="839767" y="0"/>
                </a:lnTo>
                <a:lnTo>
                  <a:pt x="839767" y="346918"/>
                </a:lnTo>
                <a:lnTo>
                  <a:pt x="0" y="3469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39071" b="-37636"/>
            </a:stretch>
          </a:blipFill>
        </p:spPr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2A882D7-6FB3-4D74-E392-41281560525C}"/>
              </a:ext>
            </a:extLst>
          </p:cNvPr>
          <p:cNvSpPr txBox="1"/>
          <p:nvPr/>
        </p:nvSpPr>
        <p:spPr>
          <a:xfrm>
            <a:off x="12290" y="2627189"/>
            <a:ext cx="10480144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Health Care Analysis</a:t>
            </a:r>
          </a:p>
        </p:txBody>
      </p:sp>
      <p:sp>
        <p:nvSpPr>
          <p:cNvPr id="4" name="Freeform 20">
            <a:extLst>
              <a:ext uri="{FF2B5EF4-FFF2-40B4-BE49-F238E27FC236}">
                <a16:creationId xmlns:a16="http://schemas.microsoft.com/office/drawing/2014/main" id="{21C4F4C9-128D-3037-484A-B7CC25C5F3F1}"/>
              </a:ext>
            </a:extLst>
          </p:cNvPr>
          <p:cNvSpPr/>
          <p:nvPr/>
        </p:nvSpPr>
        <p:spPr>
          <a:xfrm>
            <a:off x="41787" y="8211821"/>
            <a:ext cx="2043613" cy="1831821"/>
          </a:xfrm>
          <a:custGeom>
            <a:avLst/>
            <a:gdLst/>
            <a:ahLst/>
            <a:cxnLst/>
            <a:rect l="l" t="t" r="r" b="b"/>
            <a:pathLst>
              <a:path w="2043613" h="1831821">
                <a:moveTo>
                  <a:pt x="0" y="0"/>
                </a:moveTo>
                <a:lnTo>
                  <a:pt x="2043613" y="0"/>
                </a:lnTo>
                <a:lnTo>
                  <a:pt x="2043613" y="1831821"/>
                </a:lnTo>
                <a:lnTo>
                  <a:pt x="0" y="18318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14438A9C-9821-C159-D0AB-5B7354BADC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29614" y="2059639"/>
            <a:ext cx="7875639" cy="6894634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30"/>
          <p:cNvSpPr txBox="1"/>
          <p:nvPr/>
        </p:nvSpPr>
        <p:spPr>
          <a:xfrm>
            <a:off x="9007579" y="990600"/>
            <a:ext cx="2184192" cy="3062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45"/>
              </a:lnSpc>
            </a:pPr>
            <a:r>
              <a:rPr lang="en-US" sz="181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HEALTH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12808F4-FB53-ECC4-EA46-56796BEAC971}"/>
              </a:ext>
            </a:extLst>
          </p:cNvPr>
          <p:cNvSpPr txBox="1"/>
          <p:nvPr/>
        </p:nvSpPr>
        <p:spPr>
          <a:xfrm>
            <a:off x="3124200" y="1151353"/>
            <a:ext cx="914400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799"/>
              </a:lnSpc>
            </a:pPr>
            <a:r>
              <a:rPr lang="en-US" sz="9600" dirty="0">
                <a:solidFill>
                  <a:schemeClr val="bg1"/>
                </a:solidFill>
                <a:latin typeface="Arial Rounded MT Bold" panose="020F0704030504030204" pitchFamily="34" charset="0"/>
                <a:ea typeface="Lilita One"/>
                <a:cs typeface="Lilita One"/>
                <a:sym typeface="Lilita One"/>
              </a:rPr>
              <a:t>Objective Of</a:t>
            </a:r>
          </a:p>
          <a:p>
            <a:pPr algn="ctr">
              <a:lnSpc>
                <a:spcPts val="8799"/>
              </a:lnSpc>
            </a:pPr>
            <a:endParaRPr lang="en-US" sz="9600" dirty="0">
              <a:solidFill>
                <a:schemeClr val="bg1"/>
              </a:solidFill>
              <a:latin typeface="Arial Rounded MT Bold" panose="020F0704030504030204" pitchFamily="34" charset="0"/>
              <a:ea typeface="Lilita One"/>
              <a:cs typeface="Lilita One"/>
              <a:sym typeface="Lilita One"/>
            </a:endParaRPr>
          </a:p>
          <a:p>
            <a:pPr algn="ctr">
              <a:lnSpc>
                <a:spcPts val="8799"/>
              </a:lnSpc>
            </a:pPr>
            <a:r>
              <a:rPr lang="en-US" sz="9600" dirty="0">
                <a:solidFill>
                  <a:schemeClr val="bg1"/>
                </a:solidFill>
                <a:latin typeface="Arial Rounded MT Bold" panose="020F0704030504030204" pitchFamily="34" charset="0"/>
                <a:ea typeface="Lilita One"/>
                <a:cs typeface="Lilita One"/>
                <a:sym typeface="Lilita One"/>
              </a:rPr>
              <a:t> Project</a:t>
            </a:r>
          </a:p>
        </p:txBody>
      </p:sp>
      <p:sp>
        <p:nvSpPr>
          <p:cNvPr id="37" name="TextBox 16">
            <a:extLst>
              <a:ext uri="{FF2B5EF4-FFF2-40B4-BE49-F238E27FC236}">
                <a16:creationId xmlns:a16="http://schemas.microsoft.com/office/drawing/2014/main" id="{FCA7B918-BA83-0D82-9613-2BC66140B2EB}"/>
              </a:ext>
            </a:extLst>
          </p:cNvPr>
          <p:cNvSpPr txBox="1"/>
          <p:nvPr/>
        </p:nvSpPr>
        <p:spPr>
          <a:xfrm>
            <a:off x="2685165" y="5113714"/>
            <a:ext cx="15336053" cy="40580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Analysing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Hospital Data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Quicksand Bold"/>
                <a:ea typeface="Quicksand Bold"/>
                <a:cs typeface="Quicksand Bold"/>
                <a:sym typeface="Quicksand Bold"/>
              </a:rPr>
              <a:t>Identifying Patient Trends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Quicksand Bold"/>
                <a:ea typeface="Quicksand Bold"/>
                <a:cs typeface="Quicksand Bold"/>
                <a:sym typeface="Quicksand Bold"/>
              </a:rPr>
              <a:t>Tracking Number of patients visits hospital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Quicksand Bold"/>
                <a:ea typeface="Quicksand Bold"/>
                <a:cs typeface="Quicksand Bold"/>
                <a:sym typeface="Quicksand Bold"/>
              </a:rPr>
              <a:t>Comparing Each Department Performance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Quicksand Bold"/>
                <a:ea typeface="Quicksand Bold"/>
                <a:cs typeface="Quicksand Bold"/>
                <a:sym typeface="Quicksand Bold"/>
              </a:rPr>
              <a:t>Understanding Data By using Dashboards</a:t>
            </a: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55AEA470-182D-5AAA-410C-D4EBEA54FC0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Box 13">
            <a:extLst>
              <a:ext uri="{FF2B5EF4-FFF2-40B4-BE49-F238E27FC236}">
                <a16:creationId xmlns:a16="http://schemas.microsoft.com/office/drawing/2014/main" id="{21C7BE08-76DE-F58C-1B04-51C7B93B1BCA}"/>
              </a:ext>
            </a:extLst>
          </p:cNvPr>
          <p:cNvSpPr txBox="1"/>
          <p:nvPr/>
        </p:nvSpPr>
        <p:spPr>
          <a:xfrm>
            <a:off x="2438400" y="1714500"/>
            <a:ext cx="13030200" cy="12551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799"/>
              </a:lnSpc>
            </a:pPr>
            <a:r>
              <a:rPr lang="en-US" sz="13800" dirty="0">
                <a:solidFill>
                  <a:schemeClr val="bg1"/>
                </a:solidFill>
                <a:latin typeface="Arial Rounded MT Bold" panose="020F0704030504030204" pitchFamily="34" charset="0"/>
                <a:ea typeface="Lilita One"/>
                <a:cs typeface="Lilita One"/>
                <a:sym typeface="Lilita One"/>
              </a:rPr>
              <a:t>KPI’s  Used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879FB5F-CEAE-6BB1-E244-74318EC6A4B0}"/>
              </a:ext>
            </a:extLst>
          </p:cNvPr>
          <p:cNvSpPr txBox="1"/>
          <p:nvPr/>
        </p:nvSpPr>
        <p:spPr>
          <a:xfrm>
            <a:off x="3048000" y="4152900"/>
            <a:ext cx="11277600" cy="3244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 algn="ctr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3600" b="1" dirty="0">
                <a:solidFill>
                  <a:schemeClr val="bg2">
                    <a:lumMod val="50000"/>
                  </a:schemeClr>
                </a:solidFill>
                <a:latin typeface="Quicksand Bold"/>
                <a:ea typeface="Quicksand Bold"/>
                <a:cs typeface="Quicksand Bold"/>
                <a:sym typeface="Quicksand Bold"/>
              </a:rPr>
              <a:t>Total Patients</a:t>
            </a:r>
          </a:p>
          <a:p>
            <a:pPr marL="571500" indent="-571500" algn="ctr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3600" b="1" dirty="0">
                <a:solidFill>
                  <a:schemeClr val="bg2">
                    <a:lumMod val="50000"/>
                  </a:schemeClr>
                </a:solidFill>
                <a:latin typeface="Quicksand Bold"/>
                <a:ea typeface="Quicksand Bold"/>
                <a:cs typeface="Quicksand Bold"/>
                <a:sym typeface="Quicksand Bold"/>
              </a:rPr>
              <a:t>Total Visitors</a:t>
            </a:r>
          </a:p>
          <a:p>
            <a:pPr marL="571500" indent="-571500" algn="ctr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3600" b="1" dirty="0">
                <a:solidFill>
                  <a:schemeClr val="bg2">
                    <a:lumMod val="50000"/>
                  </a:schemeClr>
                </a:solidFill>
                <a:latin typeface="Quicksand Bold"/>
                <a:ea typeface="Quicksand Bold"/>
                <a:cs typeface="Quicksand Bold"/>
                <a:sym typeface="Quicksand Bold"/>
              </a:rPr>
              <a:t>Total Revenue</a:t>
            </a: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BE4401F7-4AB3-DA5A-6056-C6ED258671E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Box 12">
            <a:extLst>
              <a:ext uri="{FF2B5EF4-FFF2-40B4-BE49-F238E27FC236}">
                <a16:creationId xmlns:a16="http://schemas.microsoft.com/office/drawing/2014/main" id="{19F9940C-63D0-FDEF-65DB-5B38E3F0DF75}"/>
              </a:ext>
            </a:extLst>
          </p:cNvPr>
          <p:cNvSpPr txBox="1"/>
          <p:nvPr/>
        </p:nvSpPr>
        <p:spPr>
          <a:xfrm>
            <a:off x="322474" y="721860"/>
            <a:ext cx="17965526" cy="10147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799"/>
              </a:lnSpc>
            </a:pPr>
            <a:r>
              <a:rPr lang="en-US" sz="6000" dirty="0">
                <a:solidFill>
                  <a:schemeClr val="bg1"/>
                </a:solidFill>
                <a:latin typeface="Arial Rounded MT Bold" panose="020F0704030504030204" pitchFamily="34" charset="0"/>
                <a:ea typeface="Lilita One"/>
                <a:cs typeface="Lilita One"/>
                <a:sym typeface="Lilita One"/>
              </a:rPr>
              <a:t>Q1.Which Gender Visits More Hospitals and Why</a:t>
            </a:r>
          </a:p>
        </p:txBody>
      </p:sp>
      <p:sp>
        <p:nvSpPr>
          <p:cNvPr id="41" name="TextBox 19">
            <a:extLst>
              <a:ext uri="{FF2B5EF4-FFF2-40B4-BE49-F238E27FC236}">
                <a16:creationId xmlns:a16="http://schemas.microsoft.com/office/drawing/2014/main" id="{2B69CA58-96E3-2222-1C88-B686A0278724}"/>
              </a:ext>
            </a:extLst>
          </p:cNvPr>
          <p:cNvSpPr txBox="1"/>
          <p:nvPr/>
        </p:nvSpPr>
        <p:spPr>
          <a:xfrm>
            <a:off x="866249" y="2476500"/>
            <a:ext cx="17099278" cy="26706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000" b="1" dirty="0">
                <a:solidFill>
                  <a:schemeClr val="bg2">
                    <a:lumMod val="50000"/>
                  </a:schemeClr>
                </a:solidFill>
              </a:rPr>
              <a:t>Female occupy 34% of total hospital visits</a:t>
            </a:r>
            <a:r>
              <a:rPr lang="en-US" sz="4000" dirty="0">
                <a:solidFill>
                  <a:schemeClr val="bg2">
                    <a:lumMod val="50000"/>
                  </a:schemeClr>
                </a:solidFill>
              </a:rPr>
              <a:t>, which is the highest because females mostly require regular health checkups, gynecology-related consultations, and pregnancy-related care.</a:t>
            </a:r>
            <a:endParaRPr lang="en-US" sz="4000" b="1" dirty="0">
              <a:solidFill>
                <a:schemeClr val="bg2">
                  <a:lumMod val="50000"/>
                </a:schemeClr>
              </a:solidFill>
              <a:latin typeface="Quicksand Bold"/>
              <a:ea typeface="Quicksand Bold"/>
              <a:cs typeface="Quicksand Bold"/>
              <a:sym typeface="Quicksand Bold"/>
            </a:endParaRPr>
          </a:p>
        </p:txBody>
      </p:sp>
      <p:graphicFrame>
        <p:nvGraphicFramePr>
          <p:cNvPr id="42" name="Chart 41">
            <a:extLst>
              <a:ext uri="{FF2B5EF4-FFF2-40B4-BE49-F238E27FC236}">
                <a16:creationId xmlns:a16="http://schemas.microsoft.com/office/drawing/2014/main" id="{699A8EEE-08F2-82D0-87CF-57A8BB32BEC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60385140"/>
              </p:ext>
            </p:extLst>
          </p:nvPr>
        </p:nvGraphicFramePr>
        <p:xfrm>
          <a:off x="5257800" y="5295900"/>
          <a:ext cx="6172200" cy="37337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24">
            <a:extLst>
              <a:ext uri="{FF2B5EF4-FFF2-40B4-BE49-F238E27FC236}">
                <a16:creationId xmlns:a16="http://schemas.microsoft.com/office/drawing/2014/main" id="{E4856B06-2E81-4EA2-0389-74E653A78AA6}"/>
              </a:ext>
            </a:extLst>
          </p:cNvPr>
          <p:cNvSpPr txBox="1"/>
          <p:nvPr/>
        </p:nvSpPr>
        <p:spPr>
          <a:xfrm>
            <a:off x="381000" y="409485"/>
            <a:ext cx="18380626" cy="9978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799"/>
              </a:lnSpc>
            </a:pPr>
            <a:r>
              <a:rPr lang="en-US" sz="5400" dirty="0">
                <a:solidFill>
                  <a:schemeClr val="bg1"/>
                </a:solidFill>
                <a:latin typeface="Arial Rounded MT Bold" panose="020F0704030504030204" pitchFamily="34" charset="0"/>
                <a:ea typeface="Lilita One"/>
                <a:cs typeface="Lilita One"/>
                <a:sym typeface="Lilita One"/>
              </a:rPr>
              <a:t>Q2.Which Age Group Highest Hospital Visits &amp;Why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CB51236-6494-757D-6117-2F78B7D610EC}"/>
              </a:ext>
            </a:extLst>
          </p:cNvPr>
          <p:cNvSpPr txBox="1"/>
          <p:nvPr/>
        </p:nvSpPr>
        <p:spPr>
          <a:xfrm>
            <a:off x="1295400" y="1893943"/>
            <a:ext cx="15925800" cy="2762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000" b="1" dirty="0">
                <a:solidFill>
                  <a:schemeClr val="bg2">
                    <a:lumMod val="50000"/>
                  </a:schemeClr>
                </a:solidFill>
              </a:rPr>
              <a:t>The age group 19–35 occupies 30% of total visits</a:t>
            </a:r>
            <a:r>
              <a:rPr lang="en-US" sz="4000" dirty="0">
                <a:solidFill>
                  <a:schemeClr val="bg2">
                    <a:lumMod val="50000"/>
                  </a:schemeClr>
                </a:solidFill>
              </a:rPr>
              <a:t>, because this group is more active, faces lifestyle issues, work stress, and accident-related admissions.</a:t>
            </a:r>
            <a:endParaRPr lang="en-US" sz="4000" b="1" dirty="0">
              <a:solidFill>
                <a:schemeClr val="bg2">
                  <a:lumMod val="50000"/>
                </a:schemeClr>
              </a:solidFill>
              <a:latin typeface="Quicksand Bold"/>
              <a:ea typeface="Quicksand Bold"/>
              <a:cs typeface="Quicksand Bold"/>
              <a:sym typeface="Quicksand Bold"/>
            </a:endParaRPr>
          </a:p>
        </p:txBody>
      </p:sp>
      <p:graphicFrame>
        <p:nvGraphicFramePr>
          <p:cNvPr id="38" name="Chart 37">
            <a:extLst>
              <a:ext uri="{FF2B5EF4-FFF2-40B4-BE49-F238E27FC236}">
                <a16:creationId xmlns:a16="http://schemas.microsoft.com/office/drawing/2014/main" id="{A1422B2C-D5BE-EBDB-FE37-8CD1E4BBB57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39929907"/>
              </p:ext>
            </p:extLst>
          </p:nvPr>
        </p:nvGraphicFramePr>
        <p:xfrm>
          <a:off x="5181600" y="5143500"/>
          <a:ext cx="6324600" cy="3886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11"/>
          <p:cNvSpPr/>
          <p:nvPr/>
        </p:nvSpPr>
        <p:spPr>
          <a:xfrm>
            <a:off x="7516931" y="7061470"/>
            <a:ext cx="3870219" cy="3870219"/>
          </a:xfrm>
          <a:custGeom>
            <a:avLst/>
            <a:gdLst/>
            <a:ahLst/>
            <a:cxnLst/>
            <a:rect l="l" t="t" r="r" b="b"/>
            <a:pathLst>
              <a:path w="3870219" h="3870219">
                <a:moveTo>
                  <a:pt x="0" y="0"/>
                </a:moveTo>
                <a:lnTo>
                  <a:pt x="3870219" y="0"/>
                </a:lnTo>
                <a:lnTo>
                  <a:pt x="3870219" y="3870219"/>
                </a:lnTo>
                <a:lnTo>
                  <a:pt x="0" y="38702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rot="1365076">
            <a:off x="14883890" y="715721"/>
            <a:ext cx="401052" cy="370639"/>
          </a:xfrm>
          <a:custGeom>
            <a:avLst/>
            <a:gdLst/>
            <a:ahLst/>
            <a:cxnLst/>
            <a:rect l="l" t="t" r="r" b="b"/>
            <a:pathLst>
              <a:path w="401052" h="370639">
                <a:moveTo>
                  <a:pt x="0" y="0"/>
                </a:moveTo>
                <a:lnTo>
                  <a:pt x="401053" y="0"/>
                </a:lnTo>
                <a:lnTo>
                  <a:pt x="401053" y="370639"/>
                </a:lnTo>
                <a:lnTo>
                  <a:pt x="0" y="3706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7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7516931" y="7061470"/>
            <a:ext cx="3870219" cy="3870219"/>
          </a:xfrm>
          <a:custGeom>
            <a:avLst/>
            <a:gdLst/>
            <a:ahLst/>
            <a:cxnLst/>
            <a:rect l="l" t="t" r="r" b="b"/>
            <a:pathLst>
              <a:path w="3870219" h="3870219">
                <a:moveTo>
                  <a:pt x="0" y="0"/>
                </a:moveTo>
                <a:lnTo>
                  <a:pt x="3870219" y="0"/>
                </a:lnTo>
                <a:lnTo>
                  <a:pt x="3870219" y="3870219"/>
                </a:lnTo>
                <a:lnTo>
                  <a:pt x="0" y="38702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4" name="TextBox 6">
            <a:extLst>
              <a:ext uri="{FF2B5EF4-FFF2-40B4-BE49-F238E27FC236}">
                <a16:creationId xmlns:a16="http://schemas.microsoft.com/office/drawing/2014/main" id="{489A95CB-E3A9-F921-B2A5-0F0A7BEBBB68}"/>
              </a:ext>
            </a:extLst>
          </p:cNvPr>
          <p:cNvSpPr txBox="1"/>
          <p:nvPr/>
        </p:nvSpPr>
        <p:spPr>
          <a:xfrm>
            <a:off x="152400" y="414759"/>
            <a:ext cx="17678400" cy="9377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sz="5400" dirty="0">
                <a:solidFill>
                  <a:schemeClr val="bg1"/>
                </a:solidFill>
                <a:latin typeface="Arial Rounded MT Bold" panose="020F0704030504030204" pitchFamily="34" charset="0"/>
                <a:ea typeface="Lilita One"/>
                <a:cs typeface="Lilita One"/>
                <a:sym typeface="Lilita One"/>
              </a:rPr>
              <a:t>Q3.Which </a:t>
            </a:r>
            <a:r>
              <a:rPr lang="en-US" sz="6000" dirty="0">
                <a:solidFill>
                  <a:schemeClr val="bg1"/>
                </a:solidFill>
                <a:latin typeface="Arial Rounded MT Bold" panose="020F0704030504030204" pitchFamily="34" charset="0"/>
                <a:ea typeface="Lilita One"/>
                <a:cs typeface="Lilita One"/>
                <a:sym typeface="Lilita One"/>
              </a:rPr>
              <a:t>City</a:t>
            </a:r>
            <a:r>
              <a:rPr lang="en-US" sz="5400" dirty="0">
                <a:solidFill>
                  <a:schemeClr val="bg1"/>
                </a:solidFill>
                <a:latin typeface="Arial Rounded MT Bold" panose="020F0704030504030204" pitchFamily="34" charset="0"/>
                <a:ea typeface="Lilita One"/>
                <a:cs typeface="Lilita One"/>
                <a:sym typeface="Lilita One"/>
              </a:rPr>
              <a:t> Has Maximum Patient Count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3273C32-DDC5-7A22-2FB0-05F1BAC8B68A}"/>
              </a:ext>
            </a:extLst>
          </p:cNvPr>
          <p:cNvSpPr txBox="1"/>
          <p:nvPr/>
        </p:nvSpPr>
        <p:spPr>
          <a:xfrm>
            <a:off x="498540" y="1407210"/>
            <a:ext cx="17907000" cy="31266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400" b="1" dirty="0">
                <a:solidFill>
                  <a:schemeClr val="bg2">
                    <a:lumMod val="75000"/>
                  </a:schemeClr>
                </a:solidFill>
              </a:rPr>
              <a:t>Hyderabad occupies 15% of total patient visits</a:t>
            </a:r>
            <a:r>
              <a:rPr lang="en-US" sz="4400" dirty="0">
                <a:solidFill>
                  <a:schemeClr val="bg2">
                    <a:lumMod val="75000"/>
                  </a:schemeClr>
                </a:solidFill>
              </a:rPr>
              <a:t>, because it is a highly populated metro city with better hospital </a:t>
            </a:r>
            <a:r>
              <a:rPr lang="en-US" sz="4800" dirty="0">
                <a:solidFill>
                  <a:schemeClr val="bg2">
                    <a:lumMod val="75000"/>
                  </a:schemeClr>
                </a:solidFill>
              </a:rPr>
              <a:t>accessibility</a:t>
            </a:r>
            <a:r>
              <a:rPr lang="en-US" sz="4400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en-US" sz="4800" dirty="0">
                <a:solidFill>
                  <a:schemeClr val="bg2">
                    <a:lumMod val="75000"/>
                  </a:schemeClr>
                </a:solidFill>
              </a:rPr>
              <a:t>and</a:t>
            </a:r>
            <a:r>
              <a:rPr lang="en-US" sz="4400" dirty="0">
                <a:solidFill>
                  <a:schemeClr val="bg2">
                    <a:lumMod val="75000"/>
                  </a:schemeClr>
                </a:solidFill>
              </a:rPr>
              <a:t> higher healthcare demand.</a:t>
            </a:r>
          </a:p>
        </p:txBody>
      </p:sp>
      <p:graphicFrame>
        <p:nvGraphicFramePr>
          <p:cNvPr id="28" name="Chart 27">
            <a:extLst>
              <a:ext uri="{FF2B5EF4-FFF2-40B4-BE49-F238E27FC236}">
                <a16:creationId xmlns:a16="http://schemas.microsoft.com/office/drawing/2014/main" id="{574F6C72-BE44-679C-2178-F18CBF731E8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134199"/>
              </p:ext>
            </p:extLst>
          </p:nvPr>
        </p:nvGraphicFramePr>
        <p:xfrm>
          <a:off x="4953000" y="4686300"/>
          <a:ext cx="7924800" cy="533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" name="AutoShape 2">
            <a:extLst>
              <a:ext uri="{FF2B5EF4-FFF2-40B4-BE49-F238E27FC236}">
                <a16:creationId xmlns:a16="http://schemas.microsoft.com/office/drawing/2014/main" id="{2D88C29F-B680-523D-C391-94B9FF01748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18">
            <a:extLst>
              <a:ext uri="{FF2B5EF4-FFF2-40B4-BE49-F238E27FC236}">
                <a16:creationId xmlns:a16="http://schemas.microsoft.com/office/drawing/2014/main" id="{126E5BA9-B669-A26B-6B81-E2417190D180}"/>
              </a:ext>
            </a:extLst>
          </p:cNvPr>
          <p:cNvSpPr txBox="1"/>
          <p:nvPr/>
        </p:nvSpPr>
        <p:spPr>
          <a:xfrm>
            <a:off x="304800" y="723900"/>
            <a:ext cx="17983200" cy="21881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799"/>
              </a:lnSpc>
            </a:pPr>
            <a:r>
              <a:rPr lang="en-US" sz="6000" dirty="0">
                <a:solidFill>
                  <a:schemeClr val="bg1"/>
                </a:solidFill>
                <a:latin typeface="Arial Rounded MT Bold" panose="020F0704030504030204" pitchFamily="34" charset="0"/>
                <a:ea typeface="Lilita One"/>
                <a:cs typeface="Lilita One"/>
                <a:sym typeface="Lilita One"/>
              </a:rPr>
              <a:t>Q4. Which Branch is Performing Better in Terms of Patient Handling &amp; Why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F33EBD0-6571-909C-F991-236315E24957}"/>
              </a:ext>
            </a:extLst>
          </p:cNvPr>
          <p:cNvSpPr txBox="1"/>
          <p:nvPr/>
        </p:nvSpPr>
        <p:spPr>
          <a:xfrm>
            <a:off x="304800" y="3170574"/>
            <a:ext cx="17754600" cy="27669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000" b="1" dirty="0">
                <a:solidFill>
                  <a:schemeClr val="bg2">
                    <a:lumMod val="75000"/>
                  </a:schemeClr>
                </a:solidFill>
              </a:rPr>
              <a:t>Branch A occupies 26%  of total patient handling</a:t>
            </a:r>
            <a:r>
              <a:rPr lang="en-US" sz="4000" dirty="0">
                <a:solidFill>
                  <a:schemeClr val="bg2">
                    <a:lumMod val="75000"/>
                  </a:schemeClr>
                </a:solidFill>
              </a:rPr>
              <a:t>, which shows it is performing better due to higher patient inflow capacity, strong infrastructure, and efficient management.</a:t>
            </a:r>
          </a:p>
        </p:txBody>
      </p:sp>
      <p:graphicFrame>
        <p:nvGraphicFramePr>
          <p:cNvPr id="35" name="Chart 34">
            <a:extLst>
              <a:ext uri="{FF2B5EF4-FFF2-40B4-BE49-F238E27FC236}">
                <a16:creationId xmlns:a16="http://schemas.microsoft.com/office/drawing/2014/main" id="{624DABA2-A713-EDED-2C6A-681AD17A597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85320872"/>
              </p:ext>
            </p:extLst>
          </p:nvPr>
        </p:nvGraphicFramePr>
        <p:xfrm>
          <a:off x="5715000" y="5600700"/>
          <a:ext cx="54102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9">
            <a:extLst>
              <a:ext uri="{FF2B5EF4-FFF2-40B4-BE49-F238E27FC236}">
                <a16:creationId xmlns:a16="http://schemas.microsoft.com/office/drawing/2014/main" id="{80F3E5A9-E30A-1953-E269-1567FFBE9DD2}"/>
              </a:ext>
            </a:extLst>
          </p:cNvPr>
          <p:cNvSpPr txBox="1"/>
          <p:nvPr/>
        </p:nvSpPr>
        <p:spPr>
          <a:xfrm>
            <a:off x="228600" y="495300"/>
            <a:ext cx="18673916" cy="19908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000"/>
              </a:lnSpc>
            </a:pPr>
            <a:r>
              <a:rPr lang="en-US" sz="6000" dirty="0">
                <a:solidFill>
                  <a:schemeClr val="bg1"/>
                </a:solidFill>
                <a:latin typeface="Arial Rounded MT Bold" panose="020F0704030504030204" pitchFamily="34" charset="0"/>
                <a:ea typeface="Lilita One"/>
                <a:cs typeface="Lilita One"/>
                <a:sym typeface="Lilita One"/>
              </a:rPr>
              <a:t>Q5.Which Age Group is Most Likely to Take Emergency Admission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B6ACBDA-6AE0-EDCC-650C-44A5A9AE2B43}"/>
              </a:ext>
            </a:extLst>
          </p:cNvPr>
          <p:cNvSpPr txBox="1"/>
          <p:nvPr/>
        </p:nvSpPr>
        <p:spPr>
          <a:xfrm>
            <a:off x="233516" y="2857500"/>
            <a:ext cx="18059400" cy="27669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000" b="1" dirty="0">
                <a:solidFill>
                  <a:schemeClr val="bg2">
                    <a:lumMod val="75000"/>
                  </a:schemeClr>
                </a:solidFill>
              </a:rPr>
              <a:t>The 19–35 age group occupies 6.07% (607) of total emergency admissions</a:t>
            </a:r>
            <a:r>
              <a:rPr lang="en-US" sz="4000" dirty="0">
                <a:solidFill>
                  <a:schemeClr val="bg2">
                    <a:lumMod val="75000"/>
                  </a:schemeClr>
                </a:solidFill>
              </a:rPr>
              <a:t>, because young adults face more road accidents, work pressure, and sudden health-related emergencies</a:t>
            </a:r>
            <a:r>
              <a:rPr lang="en-US" sz="4000" dirty="0"/>
              <a:t>.</a:t>
            </a:r>
          </a:p>
        </p:txBody>
      </p:sp>
      <p:graphicFrame>
        <p:nvGraphicFramePr>
          <p:cNvPr id="32" name="Chart 31">
            <a:extLst>
              <a:ext uri="{FF2B5EF4-FFF2-40B4-BE49-F238E27FC236}">
                <a16:creationId xmlns:a16="http://schemas.microsoft.com/office/drawing/2014/main" id="{9E99572C-C37D-293D-79A5-F407486252E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63518978"/>
              </p:ext>
            </p:extLst>
          </p:nvPr>
        </p:nvGraphicFramePr>
        <p:xfrm>
          <a:off x="5943600" y="5995745"/>
          <a:ext cx="5715000" cy="35162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24">
            <a:extLst>
              <a:ext uri="{FF2B5EF4-FFF2-40B4-BE49-F238E27FC236}">
                <a16:creationId xmlns:a16="http://schemas.microsoft.com/office/drawing/2014/main" id="{DE4B262B-9471-4A0C-BDCA-D94801D9C83A}"/>
              </a:ext>
            </a:extLst>
          </p:cNvPr>
          <p:cNvSpPr txBox="1"/>
          <p:nvPr/>
        </p:nvSpPr>
        <p:spPr>
          <a:xfrm>
            <a:off x="381000" y="354750"/>
            <a:ext cx="17907000" cy="21432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799"/>
              </a:lnSpc>
            </a:pPr>
            <a:r>
              <a:rPr lang="en-US" sz="6000" dirty="0">
                <a:solidFill>
                  <a:schemeClr val="bg1"/>
                </a:solidFill>
                <a:latin typeface="Arial Rounded MT Bold" panose="020F0704030504030204" pitchFamily="34" charset="0"/>
                <a:ea typeface="Lilita One"/>
                <a:cs typeface="Lilita One"/>
                <a:sym typeface="Lilita One"/>
              </a:rPr>
              <a:t>Q6. Which Department Receives The Highest Number Of Admission &amp; Why</a:t>
            </a:r>
          </a:p>
        </p:txBody>
      </p:sp>
      <p:sp>
        <p:nvSpPr>
          <p:cNvPr id="30" name="TextBox 25">
            <a:extLst>
              <a:ext uri="{FF2B5EF4-FFF2-40B4-BE49-F238E27FC236}">
                <a16:creationId xmlns:a16="http://schemas.microsoft.com/office/drawing/2014/main" id="{480D42B2-CBFC-D03E-5B76-B6D55D264B69}"/>
              </a:ext>
            </a:extLst>
          </p:cNvPr>
          <p:cNvSpPr txBox="1"/>
          <p:nvPr/>
        </p:nvSpPr>
        <p:spPr>
          <a:xfrm>
            <a:off x="381000" y="2857500"/>
            <a:ext cx="17678400" cy="17522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000" b="1" dirty="0">
                <a:solidFill>
                  <a:schemeClr val="bg2">
                    <a:lumMod val="75000"/>
                  </a:schemeClr>
                </a:solidFill>
              </a:rPr>
              <a:t>Neurology occupies 10% of total admissions</a:t>
            </a:r>
            <a:r>
              <a:rPr lang="en-US" sz="4000" dirty="0">
                <a:solidFill>
                  <a:schemeClr val="bg2">
                    <a:lumMod val="75000"/>
                  </a:schemeClr>
                </a:solidFill>
              </a:rPr>
              <a:t>, because neurological cases like stroke, migraine, seizures are critical and often require immediate hospitalization</a:t>
            </a:r>
            <a:endParaRPr lang="en-US" sz="3600" b="1" dirty="0">
              <a:solidFill>
                <a:schemeClr val="bg2">
                  <a:lumMod val="75000"/>
                </a:schemeClr>
              </a:solidFill>
              <a:latin typeface="Quicksand Bold"/>
              <a:ea typeface="Quicksand Bold"/>
              <a:cs typeface="Quicksand Bold"/>
              <a:sym typeface="Quicksand Bold"/>
            </a:endParaRPr>
          </a:p>
        </p:txBody>
      </p:sp>
      <p:graphicFrame>
        <p:nvGraphicFramePr>
          <p:cNvPr id="31" name="Chart 30">
            <a:extLst>
              <a:ext uri="{FF2B5EF4-FFF2-40B4-BE49-F238E27FC236}">
                <a16:creationId xmlns:a16="http://schemas.microsoft.com/office/drawing/2014/main" id="{A9ECD64C-736E-66BF-C172-42517AD5D78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40903633"/>
              </p:ext>
            </p:extLst>
          </p:nvPr>
        </p:nvGraphicFramePr>
        <p:xfrm>
          <a:off x="5029200" y="4938468"/>
          <a:ext cx="8763000" cy="46246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4">
            <a:extLst>
              <a:ext uri="{FF2B5EF4-FFF2-40B4-BE49-F238E27FC236}">
                <a16:creationId xmlns:a16="http://schemas.microsoft.com/office/drawing/2014/main" id="{DA81CE1B-127A-567E-C975-EEADB1862799}"/>
              </a:ext>
            </a:extLst>
          </p:cNvPr>
          <p:cNvSpPr txBox="1"/>
          <p:nvPr/>
        </p:nvSpPr>
        <p:spPr>
          <a:xfrm>
            <a:off x="1033982" y="241177"/>
            <a:ext cx="17907000" cy="10241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799"/>
              </a:lnSpc>
            </a:pPr>
            <a:r>
              <a:rPr lang="en-US" sz="5400" dirty="0">
                <a:solidFill>
                  <a:schemeClr val="bg1"/>
                </a:solidFill>
                <a:latin typeface="Arial Rounded MT Bold" panose="020F0704030504030204" pitchFamily="34" charset="0"/>
                <a:ea typeface="Lilita One"/>
                <a:cs typeface="Lilita One"/>
                <a:sym typeface="Lilita One"/>
              </a:rPr>
              <a:t>Q7.Which Type Of Admission Patients Visits Most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9063B64-272D-38E4-B52A-CCED0F82368A}"/>
              </a:ext>
            </a:extLst>
          </p:cNvPr>
          <p:cNvSpPr txBox="1"/>
          <p:nvPr/>
        </p:nvSpPr>
        <p:spPr>
          <a:xfrm>
            <a:off x="1486262" y="2019300"/>
            <a:ext cx="1543013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chemeClr val="bg2"/>
                </a:solidFill>
              </a:rPr>
              <a:t>OPD Admission Occupies 56% ,OPD cases Visits Most</a:t>
            </a:r>
          </a:p>
        </p:txBody>
      </p:sp>
      <p:graphicFrame>
        <p:nvGraphicFramePr>
          <p:cNvPr id="30" name="Chart 29">
            <a:extLst>
              <a:ext uri="{FF2B5EF4-FFF2-40B4-BE49-F238E27FC236}">
                <a16:creationId xmlns:a16="http://schemas.microsoft.com/office/drawing/2014/main" id="{9E99572C-C37D-293D-79A5-F407486252E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65049569"/>
              </p:ext>
            </p:extLst>
          </p:nvPr>
        </p:nvGraphicFramePr>
        <p:xfrm>
          <a:off x="5943600" y="3642844"/>
          <a:ext cx="6781800" cy="38628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24">
            <a:extLst>
              <a:ext uri="{FF2B5EF4-FFF2-40B4-BE49-F238E27FC236}">
                <a16:creationId xmlns:a16="http://schemas.microsoft.com/office/drawing/2014/main" id="{778DFC95-8B33-1026-3827-CB8945D57BB0}"/>
              </a:ext>
            </a:extLst>
          </p:cNvPr>
          <p:cNvSpPr txBox="1"/>
          <p:nvPr/>
        </p:nvSpPr>
        <p:spPr>
          <a:xfrm>
            <a:off x="609600" y="407303"/>
            <a:ext cx="17907000" cy="21348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799"/>
              </a:lnSpc>
            </a:pPr>
            <a:r>
              <a:rPr lang="en-US" sz="5400" dirty="0">
                <a:solidFill>
                  <a:schemeClr val="bg1"/>
                </a:solidFill>
                <a:latin typeface="Arial Rounded MT Bold" panose="020F0704030504030204" pitchFamily="34" charset="0"/>
                <a:ea typeface="Lilita One"/>
                <a:cs typeface="Lilita One"/>
                <a:sym typeface="Lilita One"/>
              </a:rPr>
              <a:t>Q8. Which department generates the highest treatment cost and why?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465B55-3313-7D90-AA47-C6CB3FC0BB79}"/>
              </a:ext>
            </a:extLst>
          </p:cNvPr>
          <p:cNvSpPr txBox="1"/>
          <p:nvPr/>
        </p:nvSpPr>
        <p:spPr>
          <a:xfrm>
            <a:off x="228600" y="2700120"/>
            <a:ext cx="18669000" cy="27735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000" b="1" dirty="0">
                <a:solidFill>
                  <a:schemeClr val="bg2"/>
                </a:solidFill>
              </a:rPr>
              <a:t>Neurology generates the highest revenue by contributing 14%</a:t>
            </a:r>
            <a:r>
              <a:rPr lang="en-US" sz="4000" dirty="0">
                <a:solidFill>
                  <a:schemeClr val="bg2"/>
                </a:solidFill>
              </a:rPr>
              <a:t>of total revenue</a:t>
            </a:r>
          </a:p>
          <a:p>
            <a:pPr>
              <a:lnSpc>
                <a:spcPct val="150000"/>
              </a:lnSpc>
            </a:pPr>
            <a:r>
              <a:rPr lang="en-US" sz="4000" dirty="0">
                <a:solidFill>
                  <a:schemeClr val="bg2"/>
                </a:solidFill>
              </a:rPr>
              <a:t>because neurology cases require costly diagnostics (MRI/CT), ICU care, and high-end procedures.</a:t>
            </a: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A9ECD64C-736E-66BF-C172-42517AD5D78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77965482"/>
              </p:ext>
            </p:extLst>
          </p:nvPr>
        </p:nvGraphicFramePr>
        <p:xfrm>
          <a:off x="6400801" y="5143500"/>
          <a:ext cx="7467600" cy="502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A4F599-FBD5-036B-0EC0-FBD552F90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4">
            <a:extLst>
              <a:ext uri="{FF2B5EF4-FFF2-40B4-BE49-F238E27FC236}">
                <a16:creationId xmlns:a16="http://schemas.microsoft.com/office/drawing/2014/main" id="{A8727027-E6BD-D924-D026-89A5A8AB1A9E}"/>
              </a:ext>
            </a:extLst>
          </p:cNvPr>
          <p:cNvSpPr txBox="1"/>
          <p:nvPr/>
        </p:nvSpPr>
        <p:spPr>
          <a:xfrm>
            <a:off x="228600" y="525517"/>
            <a:ext cx="17907000" cy="21325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799"/>
              </a:lnSpc>
            </a:pPr>
            <a:r>
              <a:rPr lang="en-US" sz="5400" dirty="0">
                <a:solidFill>
                  <a:schemeClr val="bg1"/>
                </a:solidFill>
                <a:latin typeface="Arial Rounded MT Bold" panose="020F0704030504030204" pitchFamily="34" charset="0"/>
                <a:ea typeface="Lilita One"/>
                <a:cs typeface="Lilita One"/>
                <a:sym typeface="Lilita One"/>
              </a:rPr>
              <a:t>Q9. What is the total treatment revenue by hospital branch?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B7001A-7308-B2D7-FB36-94A89B8B178E}"/>
              </a:ext>
            </a:extLst>
          </p:cNvPr>
          <p:cNvSpPr txBox="1"/>
          <p:nvPr/>
        </p:nvSpPr>
        <p:spPr>
          <a:xfrm>
            <a:off x="243840" y="3009900"/>
            <a:ext cx="18669000" cy="926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000" b="1" dirty="0">
                <a:solidFill>
                  <a:schemeClr val="bg2"/>
                </a:solidFill>
              </a:rPr>
              <a:t>Branch A generates the maximum revenue by contributing 26%</a:t>
            </a:r>
            <a:r>
              <a:rPr lang="en-US" sz="4000" dirty="0">
                <a:solidFill>
                  <a:schemeClr val="bg2"/>
                </a:solidFill>
              </a:rPr>
              <a:t> of total revenue.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12936069-1E25-9164-6C1A-27862293CCF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92943392"/>
              </p:ext>
            </p:extLst>
          </p:nvPr>
        </p:nvGraphicFramePr>
        <p:xfrm>
          <a:off x="5410200" y="5143500"/>
          <a:ext cx="7848600" cy="44655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2077996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D3839C-93A4-4866-C2CA-DE82306FD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4">
            <a:extLst>
              <a:ext uri="{FF2B5EF4-FFF2-40B4-BE49-F238E27FC236}">
                <a16:creationId xmlns:a16="http://schemas.microsoft.com/office/drawing/2014/main" id="{7133BBBE-7F33-84A4-E45C-4F1C0AD8C36C}"/>
              </a:ext>
            </a:extLst>
          </p:cNvPr>
          <p:cNvSpPr txBox="1"/>
          <p:nvPr/>
        </p:nvSpPr>
        <p:spPr>
          <a:xfrm>
            <a:off x="228600" y="525517"/>
            <a:ext cx="17907000" cy="21348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799"/>
              </a:lnSpc>
            </a:pPr>
            <a:r>
              <a:rPr lang="en-US" sz="5400" dirty="0">
                <a:solidFill>
                  <a:schemeClr val="bg1"/>
                </a:solidFill>
                <a:latin typeface="Arial Rounded MT Bold" panose="020F0704030504030204" pitchFamily="34" charset="0"/>
                <a:ea typeface="Lilita One"/>
                <a:cs typeface="Lilita One"/>
                <a:sym typeface="Lilita One"/>
              </a:rPr>
              <a:t>Q10. Which admission type (OPD/Emergency/Inpatient) is most expensive?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D2FEB6-29EB-627D-27B9-E0CF94C003B9}"/>
              </a:ext>
            </a:extLst>
          </p:cNvPr>
          <p:cNvSpPr txBox="1"/>
          <p:nvPr/>
        </p:nvSpPr>
        <p:spPr>
          <a:xfrm>
            <a:off x="228600" y="2857500"/>
            <a:ext cx="18669000" cy="926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000" b="1" dirty="0">
                <a:solidFill>
                  <a:schemeClr val="bg2"/>
                </a:solidFill>
              </a:rPr>
              <a:t>OPD contributes the highest revenue by generating 36%</a:t>
            </a:r>
            <a:r>
              <a:rPr lang="en-US" sz="4000" dirty="0">
                <a:solidFill>
                  <a:schemeClr val="bg2"/>
                </a:solidFill>
              </a:rPr>
              <a:t>of total revenue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E6C2CBFF-A247-FC49-CAC3-1B2FECFBE18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67029319"/>
              </p:ext>
            </p:extLst>
          </p:nvPr>
        </p:nvGraphicFramePr>
        <p:xfrm>
          <a:off x="5943600" y="4305300"/>
          <a:ext cx="8763000" cy="51243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5062865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D3547-1307-7257-5821-69264EAC1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4">
            <a:extLst>
              <a:ext uri="{FF2B5EF4-FFF2-40B4-BE49-F238E27FC236}">
                <a16:creationId xmlns:a16="http://schemas.microsoft.com/office/drawing/2014/main" id="{A88E21BD-6022-B049-097D-A36055F3B56D}"/>
              </a:ext>
            </a:extLst>
          </p:cNvPr>
          <p:cNvSpPr txBox="1"/>
          <p:nvPr/>
        </p:nvSpPr>
        <p:spPr>
          <a:xfrm>
            <a:off x="228600" y="525517"/>
            <a:ext cx="17907000" cy="21263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799"/>
              </a:lnSpc>
            </a:pPr>
            <a:r>
              <a:rPr lang="en-US" sz="5400" dirty="0">
                <a:solidFill>
                  <a:schemeClr val="bg1"/>
                </a:solidFill>
                <a:latin typeface="Arial Rounded MT Bold" panose="020F0704030504030204" pitchFamily="34" charset="0"/>
                <a:ea typeface="Lilita One"/>
                <a:cs typeface="Lilita One"/>
                <a:sym typeface="Lilita One"/>
              </a:rPr>
              <a:t>Q11. Which city contributes the highest treatment cost?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BB537F-FC2E-B1DB-B209-BA6444CC0D17}"/>
              </a:ext>
            </a:extLst>
          </p:cNvPr>
          <p:cNvSpPr txBox="1"/>
          <p:nvPr/>
        </p:nvSpPr>
        <p:spPr>
          <a:xfrm>
            <a:off x="288561" y="2229166"/>
            <a:ext cx="18669000" cy="926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000" b="1" dirty="0">
                <a:solidFill>
                  <a:schemeClr val="bg2"/>
                </a:solidFill>
              </a:rPr>
              <a:t>Hyderabad contributes the highest revenue by generating 15%</a:t>
            </a:r>
            <a:r>
              <a:rPr lang="en-US" sz="4000" dirty="0">
                <a:solidFill>
                  <a:schemeClr val="bg2"/>
                </a:solidFill>
              </a:rPr>
              <a:t> of total revenue</a:t>
            </a:r>
            <a:r>
              <a:rPr lang="en-US" sz="4000" dirty="0"/>
              <a:t>.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4A06E92B-1335-270C-E402-76424320870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64926133"/>
              </p:ext>
            </p:extLst>
          </p:nvPr>
        </p:nvGraphicFramePr>
        <p:xfrm>
          <a:off x="5029200" y="4300724"/>
          <a:ext cx="9296400" cy="56603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67681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3B66C-5335-81F3-25E3-B24B24279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4">
            <a:extLst>
              <a:ext uri="{FF2B5EF4-FFF2-40B4-BE49-F238E27FC236}">
                <a16:creationId xmlns:a16="http://schemas.microsoft.com/office/drawing/2014/main" id="{8CD6EC91-43D8-6873-2138-769C4A8BBBF9}"/>
              </a:ext>
            </a:extLst>
          </p:cNvPr>
          <p:cNvSpPr txBox="1"/>
          <p:nvPr/>
        </p:nvSpPr>
        <p:spPr>
          <a:xfrm>
            <a:off x="190500" y="234063"/>
            <a:ext cx="17907000" cy="21263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799"/>
              </a:lnSpc>
            </a:pPr>
            <a:r>
              <a:rPr lang="en-US" sz="5400" dirty="0">
                <a:solidFill>
                  <a:schemeClr val="bg1"/>
                </a:solidFill>
                <a:latin typeface="Arial Rounded MT Bold" panose="020F0704030504030204" pitchFamily="34" charset="0"/>
                <a:ea typeface="Lilita One"/>
                <a:cs typeface="Lilita One"/>
                <a:sym typeface="Lilita One"/>
              </a:rPr>
              <a:t>Q12. Which diagnosis is most common across all visits?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D88607-0D7B-4EE9-C7F5-2DE040BFBEB0}"/>
              </a:ext>
            </a:extLst>
          </p:cNvPr>
          <p:cNvSpPr txBox="1"/>
          <p:nvPr/>
        </p:nvSpPr>
        <p:spPr>
          <a:xfrm>
            <a:off x="190500" y="2357956"/>
            <a:ext cx="18669000" cy="18502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000" b="1" dirty="0">
                <a:solidFill>
                  <a:schemeClr val="bg2"/>
                </a:solidFill>
              </a:rPr>
              <a:t>Cancer, Pregnancy &amp; Fever are most common diagnosis in across all visits</a:t>
            </a:r>
          </a:p>
          <a:p>
            <a:pPr>
              <a:lnSpc>
                <a:spcPct val="150000"/>
              </a:lnSpc>
            </a:pPr>
            <a:r>
              <a:rPr lang="en-US" sz="4000" b="1" dirty="0">
                <a:solidFill>
                  <a:schemeClr val="bg2"/>
                </a:solidFill>
              </a:rPr>
              <a:t>Those three contributes 9%.</a:t>
            </a:r>
            <a:endParaRPr lang="en-US" sz="4000" dirty="0">
              <a:solidFill>
                <a:schemeClr val="bg2"/>
              </a:solidFill>
            </a:endParaRP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AC708798-0038-D680-445E-72811DECF41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24246144"/>
              </p:ext>
            </p:extLst>
          </p:nvPr>
        </p:nvGraphicFramePr>
        <p:xfrm>
          <a:off x="4267200" y="4229100"/>
          <a:ext cx="10820399" cy="5791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4431637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E8631-0CD9-EDD5-A12A-EF5E28439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4">
            <a:extLst>
              <a:ext uri="{FF2B5EF4-FFF2-40B4-BE49-F238E27FC236}">
                <a16:creationId xmlns:a16="http://schemas.microsoft.com/office/drawing/2014/main" id="{889BA07E-DCF8-E9A2-C610-C0C9ECB07755}"/>
              </a:ext>
            </a:extLst>
          </p:cNvPr>
          <p:cNvSpPr txBox="1"/>
          <p:nvPr/>
        </p:nvSpPr>
        <p:spPr>
          <a:xfrm>
            <a:off x="228600" y="525517"/>
            <a:ext cx="17907000" cy="21263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799"/>
              </a:lnSpc>
            </a:pPr>
            <a:r>
              <a:rPr lang="en-US" sz="5400" dirty="0">
                <a:solidFill>
                  <a:schemeClr val="bg1"/>
                </a:solidFill>
                <a:latin typeface="Arial Rounded MT Bold" panose="020F0704030504030204" pitchFamily="34" charset="0"/>
                <a:ea typeface="Lilita One"/>
                <a:cs typeface="Lilita One"/>
                <a:sym typeface="Lilita One"/>
              </a:rPr>
              <a:t>Q13. Which payment mode is most preferred by patients?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CB8B9B-7E16-2AFB-9C63-F286DF509428}"/>
              </a:ext>
            </a:extLst>
          </p:cNvPr>
          <p:cNvSpPr txBox="1"/>
          <p:nvPr/>
        </p:nvSpPr>
        <p:spPr>
          <a:xfrm>
            <a:off x="228600" y="2743959"/>
            <a:ext cx="18669000" cy="18502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000" b="1" dirty="0">
                <a:solidFill>
                  <a:schemeClr val="bg2"/>
                </a:solidFill>
              </a:rPr>
              <a:t>Net Banking is Payment mode is most preferred by the Patients, which contributes 26%</a:t>
            </a: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04821F8C-FBE5-2A66-ACAD-D71071B8F59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61794678"/>
              </p:ext>
            </p:extLst>
          </p:nvPr>
        </p:nvGraphicFramePr>
        <p:xfrm>
          <a:off x="4381500" y="4610100"/>
          <a:ext cx="8877300" cy="4648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0953612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6B763B-9713-F17C-C859-6710934A9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4">
            <a:extLst>
              <a:ext uri="{FF2B5EF4-FFF2-40B4-BE49-F238E27FC236}">
                <a16:creationId xmlns:a16="http://schemas.microsoft.com/office/drawing/2014/main" id="{DF5583C4-100C-3224-F54E-B8D5FA800E86}"/>
              </a:ext>
            </a:extLst>
          </p:cNvPr>
          <p:cNvSpPr txBox="1"/>
          <p:nvPr/>
        </p:nvSpPr>
        <p:spPr>
          <a:xfrm>
            <a:off x="228600" y="525517"/>
            <a:ext cx="17907000" cy="21348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799"/>
              </a:lnSpc>
            </a:pPr>
            <a:r>
              <a:rPr lang="en-US" sz="5400" dirty="0">
                <a:solidFill>
                  <a:schemeClr val="bg1"/>
                </a:solidFill>
                <a:latin typeface="Arial Rounded MT Bold" panose="020F0704030504030204" pitchFamily="34" charset="0"/>
                <a:ea typeface="Lilita One"/>
                <a:cs typeface="Lilita One"/>
                <a:sym typeface="Lilita One"/>
              </a:rPr>
              <a:t>Q14.Which discharge status is most common and what does it indicate?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46C08E-1940-C40E-B36E-3058935FDB71}"/>
              </a:ext>
            </a:extLst>
          </p:cNvPr>
          <p:cNvSpPr txBox="1"/>
          <p:nvPr/>
        </p:nvSpPr>
        <p:spPr>
          <a:xfrm>
            <a:off x="457200" y="3086100"/>
            <a:ext cx="18669000" cy="24042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2"/>
                </a:solidFill>
              </a:rPr>
              <a:t>Most common status is Recovered which contributes 68%,</a:t>
            </a:r>
          </a:p>
          <a:p>
            <a:r>
              <a:rPr lang="en-US" sz="3200" dirty="0">
                <a:solidFill>
                  <a:schemeClr val="bg2"/>
                </a:solidFill>
              </a:rPr>
              <a:t>This shows that the hospital has a </a:t>
            </a:r>
            <a:r>
              <a:rPr lang="en-US" sz="3200" b="1" dirty="0">
                <a:solidFill>
                  <a:schemeClr val="bg2"/>
                </a:solidFill>
              </a:rPr>
              <a:t>high recovery/success rate</a:t>
            </a:r>
            <a:r>
              <a:rPr lang="en-US" sz="3200" dirty="0">
                <a:solidFill>
                  <a:schemeClr val="bg2"/>
                </a:solidFill>
              </a:rPr>
              <a:t>, </a:t>
            </a:r>
          </a:p>
          <a:p>
            <a:r>
              <a:rPr lang="en-US" sz="3200" dirty="0">
                <a:solidFill>
                  <a:schemeClr val="bg2"/>
                </a:solidFill>
              </a:rPr>
              <a:t>meaning most patients are receiving effective treatment and getting discharged in stable condition.</a:t>
            </a:r>
          </a:p>
          <a:p>
            <a:pPr>
              <a:lnSpc>
                <a:spcPct val="150000"/>
              </a:lnSpc>
            </a:pPr>
            <a:endParaRPr lang="en-US" sz="4000" b="1" dirty="0"/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FB1A3A84-09BD-A92C-8C6D-48509D9868F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86547100"/>
              </p:ext>
            </p:extLst>
          </p:nvPr>
        </p:nvGraphicFramePr>
        <p:xfrm>
          <a:off x="3429000" y="5455411"/>
          <a:ext cx="8686800" cy="43060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907950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8152B-1DDB-DD63-72F8-C57A81027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4">
            <a:extLst>
              <a:ext uri="{FF2B5EF4-FFF2-40B4-BE49-F238E27FC236}">
                <a16:creationId xmlns:a16="http://schemas.microsoft.com/office/drawing/2014/main" id="{C50F49E7-A1FC-1805-AAC1-E6E1F2A2CFD5}"/>
              </a:ext>
            </a:extLst>
          </p:cNvPr>
          <p:cNvSpPr txBox="1"/>
          <p:nvPr/>
        </p:nvSpPr>
        <p:spPr>
          <a:xfrm>
            <a:off x="228600" y="525517"/>
            <a:ext cx="17907000" cy="10063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799"/>
              </a:lnSpc>
            </a:pPr>
            <a:r>
              <a:rPr lang="en-US" sz="5400" dirty="0">
                <a:solidFill>
                  <a:schemeClr val="bg1"/>
                </a:solidFill>
                <a:latin typeface="Arial Rounded MT Bold" panose="020F0704030504030204" pitchFamily="34" charset="0"/>
                <a:ea typeface="Lilita One"/>
                <a:cs typeface="Lilita One"/>
                <a:sym typeface="Lilita One"/>
              </a:rPr>
              <a:t>Q15. Which insurance type is used the most and why?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7E0C0E-CAE1-02C6-E402-D502381D6E16}"/>
              </a:ext>
            </a:extLst>
          </p:cNvPr>
          <p:cNvSpPr txBox="1"/>
          <p:nvPr/>
        </p:nvSpPr>
        <p:spPr>
          <a:xfrm>
            <a:off x="243590" y="2035066"/>
            <a:ext cx="18669000" cy="27735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  </a:t>
            </a:r>
            <a:r>
              <a:rPr lang="en-US" sz="4000" dirty="0">
                <a:solidFill>
                  <a:schemeClr val="bg2"/>
                </a:solidFill>
              </a:rPr>
              <a:t>Private insurance type is most used  which contributes 44%,</a:t>
            </a:r>
          </a:p>
          <a:p>
            <a:r>
              <a:rPr lang="en-US" sz="4000" dirty="0">
                <a:solidFill>
                  <a:schemeClr val="bg2"/>
                </a:solidFill>
              </a:rPr>
              <a:t>because it provides </a:t>
            </a:r>
            <a:r>
              <a:rPr lang="en-US" sz="4000" b="1" dirty="0">
                <a:solidFill>
                  <a:schemeClr val="bg2"/>
                </a:solidFill>
              </a:rPr>
              <a:t>better hospital coverage, wider treatment benefits, and easier claim availability.</a:t>
            </a:r>
            <a:endParaRPr lang="en-US" sz="4000" dirty="0">
              <a:solidFill>
                <a:schemeClr val="bg2"/>
              </a:solidFill>
            </a:endParaRPr>
          </a:p>
          <a:p>
            <a:pPr>
              <a:lnSpc>
                <a:spcPct val="150000"/>
              </a:lnSpc>
            </a:pPr>
            <a:endParaRPr lang="en-US" sz="4000" b="1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EA81CDF9-61D6-FDD6-AD6C-DA95AC4F45E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74651949"/>
              </p:ext>
            </p:extLst>
          </p:nvPr>
        </p:nvGraphicFramePr>
        <p:xfrm>
          <a:off x="3886200" y="4381500"/>
          <a:ext cx="9220200" cy="55204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6398010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62C09-F979-AE8D-7345-AE2A5A049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18">
            <a:extLst>
              <a:ext uri="{FF2B5EF4-FFF2-40B4-BE49-F238E27FC236}">
                <a16:creationId xmlns:a16="http://schemas.microsoft.com/office/drawing/2014/main" id="{EF4888C0-7A04-A4BC-B44B-542C78959650}"/>
              </a:ext>
            </a:extLst>
          </p:cNvPr>
          <p:cNvSpPr/>
          <p:nvPr/>
        </p:nvSpPr>
        <p:spPr>
          <a:xfrm rot="21113819">
            <a:off x="15246889" y="7207788"/>
            <a:ext cx="2432445" cy="2432445"/>
          </a:xfrm>
          <a:custGeom>
            <a:avLst/>
            <a:gdLst/>
            <a:ahLst/>
            <a:cxnLst/>
            <a:rect l="l" t="t" r="r" b="b"/>
            <a:pathLst>
              <a:path w="2432445" h="2432445">
                <a:moveTo>
                  <a:pt x="0" y="0"/>
                </a:moveTo>
                <a:lnTo>
                  <a:pt x="2432445" y="0"/>
                </a:lnTo>
                <a:lnTo>
                  <a:pt x="2432445" y="2432445"/>
                </a:lnTo>
                <a:lnTo>
                  <a:pt x="0" y="24324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6128C3-B058-2CA5-438F-FCB479196353}"/>
              </a:ext>
            </a:extLst>
          </p:cNvPr>
          <p:cNvSpPr txBox="1"/>
          <p:nvPr/>
        </p:nvSpPr>
        <p:spPr>
          <a:xfrm rot="10800000" flipV="1">
            <a:off x="2514600" y="680740"/>
            <a:ext cx="13487400" cy="89255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700" dirty="0">
                <a:solidFill>
                  <a:schemeClr val="bg2">
                    <a:lumMod val="50000"/>
                  </a:schemeClr>
                </a:solidFill>
                <a:latin typeface="Berlin Sans FB Demi" panose="020E0802020502020306" pitchFamily="34" charset="0"/>
              </a:rPr>
              <a:t>Thank you</a:t>
            </a:r>
          </a:p>
        </p:txBody>
      </p:sp>
      <p:sp>
        <p:nvSpPr>
          <p:cNvPr id="4" name="Freeform 19">
            <a:extLst>
              <a:ext uri="{FF2B5EF4-FFF2-40B4-BE49-F238E27FC236}">
                <a16:creationId xmlns:a16="http://schemas.microsoft.com/office/drawing/2014/main" id="{E782EF45-C845-CE8B-7262-42AC43840000}"/>
              </a:ext>
            </a:extLst>
          </p:cNvPr>
          <p:cNvSpPr/>
          <p:nvPr/>
        </p:nvSpPr>
        <p:spPr>
          <a:xfrm>
            <a:off x="838200" y="952500"/>
            <a:ext cx="2290921" cy="2432445"/>
          </a:xfrm>
          <a:custGeom>
            <a:avLst/>
            <a:gdLst/>
            <a:ahLst/>
            <a:cxnLst/>
            <a:rect l="l" t="t" r="r" b="b"/>
            <a:pathLst>
              <a:path w="2290921" h="2432445">
                <a:moveTo>
                  <a:pt x="0" y="0"/>
                </a:moveTo>
                <a:lnTo>
                  <a:pt x="2290921" y="0"/>
                </a:lnTo>
                <a:lnTo>
                  <a:pt x="2290921" y="2432445"/>
                </a:lnTo>
                <a:lnTo>
                  <a:pt x="0" y="24324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5265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269</TotalTime>
  <Words>663</Words>
  <Application>Microsoft Office PowerPoint</Application>
  <PresentationFormat>Custom</PresentationFormat>
  <Paragraphs>128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8" baseType="lpstr">
      <vt:lpstr>Aptos</vt:lpstr>
      <vt:lpstr>Wingdings</vt:lpstr>
      <vt:lpstr>Arial</vt:lpstr>
      <vt:lpstr>Raleway</vt:lpstr>
      <vt:lpstr>Quicksand Bold</vt:lpstr>
      <vt:lpstr>Berlin Sans FB Demi</vt:lpstr>
      <vt:lpstr>Arial Rounded MT Bold</vt:lpstr>
      <vt:lpstr>Aptos Display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mandadi bhargavi</cp:lastModifiedBy>
  <cp:revision>5</cp:revision>
  <dcterms:created xsi:type="dcterms:W3CDTF">2006-08-16T00:00:00Z</dcterms:created>
  <dcterms:modified xsi:type="dcterms:W3CDTF">2026-02-19T13:55:13Z</dcterms:modified>
  <dc:identifier>DAHBYxLkgrU</dc:identifier>
</cp:coreProperties>
</file>